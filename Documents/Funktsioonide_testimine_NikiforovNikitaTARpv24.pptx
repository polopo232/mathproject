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embeddedFontLst>
    <p:embeddedFont>
      <p:font typeface="Rubik" pitchFamily="34" charset="0"/>
      <p:regular r:id="rId18"/>
      <p:bold r:id="rId19"/>
    </p:embeddedFont>
    <p:embeddedFont>
      <p:font typeface="JetBrains Mono" panose="02000009000000000000" pitchFamily="49" charset="0"/>
      <p:regular r:id="rId20"/>
      <p:bold r:id="rId2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font" Target="fonts/font1.fntdata"/><Relationship Id="rId19" Type="http://schemas.openxmlformats.org/officeDocument/2006/relationships/font" Target="fonts/font2.fntdata"/><Relationship Id="rId20" Type="http://schemas.openxmlformats.org/officeDocument/2006/relationships/font" Target="fonts/font3.fntdata"/><Relationship Id="rId21"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Tere! Minu nimi on Nikita Nikiforov. Ma testisin Maksimi funktsioonide uurimise veebirakendust ja räägin, mida ma testisin, kuidas ja mis vead leidsin.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Rakendusse sisestad valemi ja saad tuletise, nullkohad, ekstreemumid ja graafiku. Minu eesmärk oli leida vead ja kontrollida, kas rakendus vastab ülesandele. Testisin viit asja, need on paremal.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Kasutasin nelja meetodit. Musta kasti testimine: kasutan rakendust nagu tavaline kasutaja. Piirväärtused: näiteks valem 200 märki on lubatud, 201 mitte. Koodiülevaatus: lugesin autori koodi. Ühiktestid: kirjutasin ise testid matemaatikale. Igal testil on staatus OK, OSALINE või VIGA.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Proovisin käivitada README järgi. npm install töötas. npm run dev kooli arvuti ei lubanud, seega käivitasin backendi ja frontendi eraldi. dotnet build andis vea, sest global.json nõuab SDK versiooni 10.0.102, aga arvutis on 10.0.100. See on minu esimene viga V-01. Kui muutsin versiooni, töötas kõik ja andmebaas tekkis 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Lühidalt numbrites: tegin 27 testjuhtumit, 21 olid OK, 4 osaliselt ja 2 lõppesid veaga. Kokku leidsin 10 viga: 3 keskmist ja 7 madalat, kriitilisi ei olnud. Lisaks läbisid kõik autori 82 automaattesti ja minu 4 testi.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Kõige olulisemad vead on kaks. Esimene, V-02: salvestatud kirjet ei saa kasutajaliideses muuta. Detailvaates on ainult nupp Kustuta, kuigi serveris on muutmine olemas. Teine, V-03: kui teha nupul Salvesta topeltklõps, tekib mitu ühesugust kirjet, nagu pildil näha. Mõlemad on keskmise tõsidusega.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Ülejäänud vead on väiksemad. V-01 on SDK versioon, millest rääkisin. Teised on madala tõsidusega: näiteks graafikul on arvud inglise vormingus, 4,000 asemel peaks olema 4 000, telefonis murdub vahemiku tähis kahele reale ja serveri vea korral tuleb tehniline teade 502. Kõik need on lihtsad parandada.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Nüüd see, mis töötas hästi. Matemaatika oli kõikjal õige, kontrollisin käsitsi. Valideerimine töötab väga hästi: tühi valem, 1000 märki, script-tag ja vigased valemid lükati kõik tagasi ja teade on eesti keeles. Graafik on selge: tuletis on katkendjoonega ja asümptoodid on õigesti näidatud. Boonusülesanne töötab 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Kirjutasin kaks xUnit-testi matemaatikale: need kontrollivad tuletist ja ekstreemumeid. Kokku 4 testi ja kõik läbisid: Total 4, Failed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Andmebaasi eest 25 punkti 30-st, sest muutmine puudub ja tekivad topeltkirjed. Valideerimine 24 punkti 25-st. Graafik ja kasutajaliides 26 punkti 30-st väiksemate vigade pärast. Matemaatika ja boonus täispunktid. Kokku 90 punkti ja 15 boonuspunkti.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on kõik! Aitäh tähelepanu eest!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61"/>
            <a:ext cx="10566400" cy="467360"/>
          </a:xfrm>
          <a:prstGeom prst="rect">
            <a:avLst/>
          </a:prstGeom>
          <a:noFill/>
          <a:ln/>
        </p:spPr>
        <p:txBody>
          <a:bodyPr wrap="square" lIns="0" tIns="0" rIns="0" bIns="0" rtlCol="0" anchor="t"/>
          <a:lstStyle>
            <a:lvl1pPr algn="l" indent="0" marL="0">
              <a:lnSpc>
                <a:spcPct val="115000"/>
              </a:lnSpc>
              <a:buNone/>
              <a:defRPr lang="en-US" sz="3200" dirty="0">
                <a:solidFill>
                  <a:srgbClr val="14213D"/>
                </a:solidFill>
                <a:latin typeface="Rubik" pitchFamily="34" charset="0"/>
                <a:ea typeface="Rubik" pitchFamily="34" charset="-122"/>
                <a:cs typeface="Rubi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4521"/>
            <a:ext cx="10566400" cy="417067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Rubik" pitchFamily="34" charset="0"/>
                <a:ea typeface="Rubik" pitchFamily="34" charset="-122"/>
                <a:cs typeface="Rubik"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61"/>
            <a:ext cx="10566400" cy="467360"/>
          </a:xfrm>
          <a:prstGeom prst="rect">
            <a:avLst/>
          </a:prstGeom>
          <a:noFill/>
          <a:ln/>
        </p:spPr>
        <p:txBody>
          <a:bodyPr wrap="square" lIns="0" tIns="0" rIns="0" bIns="0" rtlCol="0" anchor="t"/>
          <a:lstStyle>
            <a:lvl1pPr algn="l" indent="0" marL="0">
              <a:lnSpc>
                <a:spcPct val="115000"/>
              </a:lnSpc>
              <a:buNone/>
              <a:defRPr lang="en-US" sz="3200" dirty="0">
                <a:solidFill>
                  <a:srgbClr val="14213D"/>
                </a:solidFill>
                <a:latin typeface="Rubik" pitchFamily="34" charset="0"/>
                <a:ea typeface="Rubik" pitchFamily="34" charset="-122"/>
                <a:cs typeface="Rubi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4521"/>
            <a:ext cx="10566400" cy="417067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Rubik" pitchFamily="34" charset="0"/>
                <a:ea typeface="Rubik" pitchFamily="34" charset="-122"/>
                <a:cs typeface="Rubik"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spc="100" kern="0" dirty="0">
                <a:solidFill>
                  <a:srgbClr val="8FA8F5"/>
                </a:solidFill>
                <a:latin typeface="Rubik" pitchFamily="34" charset="0"/>
                <a:ea typeface="Rubik" pitchFamily="34" charset="-122"/>
                <a:cs typeface="Rubik" pitchFamily="34" charset="-120"/>
              </a:rPr>
              <a:t>TESTIMISARUANNE · PROGRAMMEERIMINE</a:t>
            </a:r>
            <a:endParaRPr lang="en-US" sz="1600" dirty="0"/>
          </a:p>
        </p:txBody>
      </p:sp>
      <p:sp>
        <p:nvSpPr>
          <p:cNvPr id="3" name="Text 1"/>
          <p:cNvSpPr/>
          <p:nvPr>
            <p:ph type="title"/>
          </p:nvPr>
        </p:nvSpPr>
        <p:spPr>
          <a:xfrm>
            <a:off x="812800" y="1300480"/>
            <a:ext cx="10883392" cy="1518920"/>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6F5F1"/>
                </a:solidFill>
                <a:latin typeface="Rubik" pitchFamily="34" charset="0"/>
                <a:ea typeface="Rubik" pitchFamily="34" charset="-122"/>
                <a:cs typeface="Rubik" pitchFamily="34" charset="-120"/>
              </a:rPr>
              <a:t>Funktsioonide uurimise veebirakenduse testimine</a:t>
            </a:r>
            <a:endParaRPr lang="en-US" sz="5600" dirty="0"/>
          </a:p>
        </p:txBody>
      </p:sp>
      <p:sp>
        <p:nvSpPr>
          <p:cNvPr id="4" name="Text 2"/>
          <p:cNvSpPr/>
          <p:nvPr/>
        </p:nvSpPr>
        <p:spPr>
          <a:xfrm>
            <a:off x="812800" y="5461000"/>
            <a:ext cx="314390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F5"/>
                </a:solidFill>
                <a:latin typeface="Rubik" pitchFamily="34" charset="0"/>
                <a:ea typeface="Rubik" pitchFamily="34" charset="-122"/>
                <a:cs typeface="Rubik" pitchFamily="34" charset="-120"/>
              </a:rPr>
              <a:t>Testija</a:t>
            </a:r>
            <a:endParaRPr lang="en-US" sz="1200" dirty="0"/>
          </a:p>
        </p:txBody>
      </p:sp>
      <p:sp>
        <p:nvSpPr>
          <p:cNvPr id="5" name="Text 3"/>
          <p:cNvSpPr/>
          <p:nvPr/>
        </p:nvSpPr>
        <p:spPr>
          <a:xfrm>
            <a:off x="812800" y="5725160"/>
            <a:ext cx="3661939" cy="34544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6F5F1"/>
                </a:solidFill>
                <a:latin typeface="Rubik" pitchFamily="34" charset="0"/>
                <a:ea typeface="Rubik" pitchFamily="34" charset="-122"/>
                <a:cs typeface="Rubik" pitchFamily="34" charset="-120"/>
              </a:rPr>
              <a:t>Nikita Nikiforov, M-TARpv24</a:t>
            </a:r>
            <a:endParaRPr lang="en-US" sz="1800" dirty="0"/>
          </a:p>
        </p:txBody>
      </p:sp>
      <p:sp>
        <p:nvSpPr>
          <p:cNvPr id="6" name="Text 4"/>
          <p:cNvSpPr/>
          <p:nvPr/>
        </p:nvSpPr>
        <p:spPr>
          <a:xfrm>
            <a:off x="4474739" y="5461000"/>
            <a:ext cx="205284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F5"/>
                </a:solidFill>
                <a:latin typeface="Rubik" pitchFamily="34" charset="0"/>
                <a:ea typeface="Rubik" pitchFamily="34" charset="-122"/>
                <a:cs typeface="Rubik" pitchFamily="34" charset="-120"/>
              </a:rPr>
              <a:t>Testitava töö autor</a:t>
            </a:r>
            <a:endParaRPr lang="en-US" sz="1200" dirty="0"/>
          </a:p>
        </p:txBody>
      </p:sp>
      <p:sp>
        <p:nvSpPr>
          <p:cNvPr id="7" name="Text 5"/>
          <p:cNvSpPr/>
          <p:nvPr/>
        </p:nvSpPr>
        <p:spPr>
          <a:xfrm>
            <a:off x="4474739" y="5725160"/>
            <a:ext cx="2391664" cy="34544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6F5F1"/>
                </a:solidFill>
                <a:latin typeface="Rubik" pitchFamily="34" charset="0"/>
                <a:ea typeface="Rubik" pitchFamily="34" charset="-122"/>
                <a:cs typeface="Rubik" pitchFamily="34" charset="-120"/>
              </a:rPr>
              <a:t>Maksim Tsikvasvili</a:t>
            </a:r>
            <a:endParaRPr lang="en-US" sz="1800" dirty="0"/>
          </a:p>
        </p:txBody>
      </p:sp>
      <p:sp>
        <p:nvSpPr>
          <p:cNvPr id="8" name="Text 6"/>
          <p:cNvSpPr/>
          <p:nvPr/>
        </p:nvSpPr>
        <p:spPr>
          <a:xfrm>
            <a:off x="7077393" y="5461000"/>
            <a:ext cx="158824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F5"/>
                </a:solidFill>
                <a:latin typeface="Rubik" pitchFamily="34" charset="0"/>
                <a:ea typeface="Rubik" pitchFamily="34" charset="-122"/>
                <a:cs typeface="Rubik" pitchFamily="34" charset="-120"/>
              </a:rPr>
              <a:t>Juhendaja</a:t>
            </a:r>
            <a:endParaRPr lang="en-US" sz="1200" dirty="0"/>
          </a:p>
        </p:txBody>
      </p:sp>
      <p:sp>
        <p:nvSpPr>
          <p:cNvPr id="9" name="Text 7"/>
          <p:cNvSpPr/>
          <p:nvPr/>
        </p:nvSpPr>
        <p:spPr>
          <a:xfrm>
            <a:off x="7077393" y="5725160"/>
            <a:ext cx="1844929" cy="34544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6F5F1"/>
                </a:solidFill>
                <a:latin typeface="Rubik" pitchFamily="34" charset="0"/>
                <a:ea typeface="Rubik" pitchFamily="34" charset="-122"/>
                <a:cs typeface="Rubik" pitchFamily="34" charset="-120"/>
              </a:rPr>
              <a:t>Marina Oleinik</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3B5BDB"/>
                </a:solidFill>
                <a:latin typeface="Rubik" pitchFamily="34" charset="0"/>
                <a:ea typeface="Rubik" pitchFamily="34" charset="-122"/>
                <a:cs typeface="Rubik" pitchFamily="34" charset="-120"/>
              </a:rPr>
              <a:t>MIDA TESTITI</a:t>
            </a:r>
            <a:endParaRPr lang="en-US" sz="1200" dirty="0"/>
          </a:p>
        </p:txBody>
      </p:sp>
      <p:sp>
        <p:nvSpPr>
          <p:cNvPr id="3" name="Text 1"/>
          <p:cNvSpPr/>
          <p:nvPr>
            <p:ph type="title"/>
          </p:nvPr>
        </p:nvSpPr>
        <p:spPr>
          <a:xfrm>
            <a:off x="812800" y="1102360"/>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Rubik" pitchFamily="34" charset="0"/>
                <a:ea typeface="Rubik" pitchFamily="34" charset="-122"/>
                <a:cs typeface="Rubik" pitchFamily="34" charset="-120"/>
              </a:rPr>
              <a:t>Rakendus ja eesmärk</a:t>
            </a:r>
            <a:endParaRPr lang="en-US" sz="3200" dirty="0"/>
          </a:p>
        </p:txBody>
      </p:sp>
      <p:sp>
        <p:nvSpPr>
          <p:cNvPr id="4" name="Text 2"/>
          <p:cNvSpPr/>
          <p:nvPr/>
        </p:nvSpPr>
        <p:spPr>
          <a:xfrm>
            <a:off x="812800" y="1874520"/>
            <a:ext cx="5016564" cy="688340"/>
          </a:xfrm>
          <a:prstGeom prst="rect">
            <a:avLst/>
          </a:prstGeom>
          <a:noFill/>
          <a:ln/>
        </p:spPr>
        <p:txBody>
          <a:bodyPr wrap="square" lIns="0" tIns="0" rIns="0" bIns="0" rtlCol="0" anchor="t">
            <a:normAutofit/>
          </a:bodyPr>
          <a:lstStyle/>
          <a:p>
            <a:pPr algn="l" indent="0" marL="0">
              <a:lnSpc>
                <a:spcPts val="2610"/>
              </a:lnSpc>
              <a:buNone/>
            </a:pPr>
            <a:r>
              <a:rPr lang="en-US" sz="1800" dirty="0">
                <a:solidFill>
                  <a:srgbClr val="4A5568"/>
                </a:solidFill>
                <a:latin typeface="Rubik" pitchFamily="34" charset="0"/>
                <a:ea typeface="Rubik" pitchFamily="34" charset="-122"/>
                <a:cs typeface="Rubik" pitchFamily="34" charset="-120"/>
              </a:rPr>
              <a:t>Sisestad valemi → saad </a:t>
            </a:r>
            <a:r>
              <a:rPr lang="en-US" sz="1800" b="1" dirty="0">
                <a:solidFill>
                  <a:srgbClr val="14213D"/>
                </a:solidFill>
                <a:latin typeface="Rubik" pitchFamily="34" charset="0"/>
                <a:ea typeface="Rubik" pitchFamily="34" charset="-122"/>
                <a:cs typeface="Rubik" pitchFamily="34" charset="-120"/>
              </a:rPr>
              <a:t>tuletise, nullkohad, ekstreemumid</a:t>
            </a:r>
            <a:r>
              <a:rPr lang="en-US" sz="1800" dirty="0">
                <a:solidFill>
                  <a:srgbClr val="4A5568"/>
                </a:solidFill>
                <a:latin typeface="Rubik" pitchFamily="34" charset="0"/>
                <a:ea typeface="Rubik" pitchFamily="34" charset="-122"/>
                <a:cs typeface="Rubik" pitchFamily="34" charset="-120"/>
              </a:rPr>
              <a:t> ja </a:t>
            </a:r>
            <a:r>
              <a:rPr lang="en-US" sz="1800" b="1" dirty="0">
                <a:solidFill>
                  <a:srgbClr val="14213D"/>
                </a:solidFill>
                <a:latin typeface="Rubik" pitchFamily="34" charset="0"/>
                <a:ea typeface="Rubik" pitchFamily="34" charset="-122"/>
                <a:cs typeface="Rubik" pitchFamily="34" charset="-120"/>
              </a:rPr>
              <a:t>graafiku</a:t>
            </a:r>
            <a:r>
              <a:rPr lang="en-US" sz="1800" dirty="0">
                <a:solidFill>
                  <a:srgbClr val="4A5568"/>
                </a:solidFill>
                <a:latin typeface="Rubik" pitchFamily="34" charset="0"/>
                <a:ea typeface="Rubik" pitchFamily="34" charset="-122"/>
                <a:cs typeface="Rubik" pitchFamily="34" charset="-120"/>
              </a:rPr>
              <a:t>.</a:t>
            </a:r>
            <a:endParaRPr lang="en-US" sz="1800" dirty="0"/>
          </a:p>
        </p:txBody>
      </p:sp>
      <p:sp>
        <p:nvSpPr>
          <p:cNvPr id="5" name="Text 3"/>
          <p:cNvSpPr/>
          <p:nvPr/>
        </p:nvSpPr>
        <p:spPr>
          <a:xfrm>
            <a:off x="812800" y="2740660"/>
            <a:ext cx="5016564" cy="688340"/>
          </a:xfrm>
          <a:prstGeom prst="rect">
            <a:avLst/>
          </a:prstGeom>
          <a:noFill/>
          <a:ln/>
        </p:spPr>
        <p:txBody>
          <a:bodyPr wrap="square" lIns="0" tIns="0" rIns="0" bIns="0" rtlCol="0" anchor="t">
            <a:normAutofit/>
          </a:bodyPr>
          <a:lstStyle/>
          <a:p>
            <a:pPr algn="l" indent="0" marL="0">
              <a:lnSpc>
                <a:spcPts val="2610"/>
              </a:lnSpc>
              <a:buNone/>
            </a:pPr>
            <a:r>
              <a:rPr lang="en-US" sz="1800" b="1" dirty="0">
                <a:solidFill>
                  <a:srgbClr val="14213D"/>
                </a:solidFill>
                <a:latin typeface="Rubik" pitchFamily="34" charset="0"/>
                <a:ea typeface="Rubik" pitchFamily="34" charset="-122"/>
                <a:cs typeface="Rubik" pitchFamily="34" charset="-120"/>
              </a:rPr>
              <a:t>Eesmärk:</a:t>
            </a:r>
            <a:r>
              <a:rPr lang="en-US" sz="1800" dirty="0">
                <a:solidFill>
                  <a:srgbClr val="4A5568"/>
                </a:solidFill>
                <a:latin typeface="Rubik" pitchFamily="34" charset="0"/>
                <a:ea typeface="Rubik" pitchFamily="34" charset="-122"/>
                <a:cs typeface="Rubik" pitchFamily="34" charset="-120"/>
              </a:rPr>
              <a:t> leida vead ja kontrollida, kas rakendus vastab ülesandele.</a:t>
            </a:r>
            <a:endParaRPr lang="en-US" sz="1800" dirty="0"/>
          </a:p>
        </p:txBody>
      </p:sp>
      <p:sp>
        <p:nvSpPr>
          <p:cNvPr id="6" name="Shape 4"/>
          <p:cNvSpPr/>
          <p:nvPr/>
        </p:nvSpPr>
        <p:spPr>
          <a:xfrm>
            <a:off x="5991225" y="1877695"/>
            <a:ext cx="5384800" cy="3961130"/>
          </a:xfrm>
          <a:prstGeom prst="roundRect">
            <a:avLst>
              <a:gd name="adj" fmla="val 2485"/>
            </a:avLst>
          </a:prstGeom>
          <a:solidFill>
            <a:srgbClr val="FFFFFF"/>
          </a:solidFill>
          <a:ln w="6350">
            <a:solidFill>
              <a:srgbClr val="E2E4EA"/>
            </a:solidFill>
            <a:prstDash val="solid"/>
          </a:ln>
        </p:spPr>
      </p:sp>
      <p:sp>
        <p:nvSpPr>
          <p:cNvPr id="7" name="Text 5"/>
          <p:cNvSpPr/>
          <p:nvPr/>
        </p:nvSpPr>
        <p:spPr>
          <a:xfrm>
            <a:off x="6248400" y="2134870"/>
            <a:ext cx="5016564"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Rubik" pitchFamily="34" charset="0"/>
                <a:ea typeface="Rubik" pitchFamily="34" charset="-122"/>
                <a:cs typeface="Rubik" pitchFamily="34" charset="-120"/>
              </a:rPr>
              <a:t>Testiti</a:t>
            </a:r>
            <a:endParaRPr lang="en-US" sz="1800" dirty="0"/>
          </a:p>
        </p:txBody>
      </p:sp>
      <p:sp>
        <p:nvSpPr>
          <p:cNvPr id="8" name="Text 6"/>
          <p:cNvSpPr/>
          <p:nvPr/>
        </p:nvSpPr>
        <p:spPr>
          <a:xfrm>
            <a:off x="6318758" y="2510790"/>
            <a:ext cx="4938585" cy="1597025"/>
          </a:xfrm>
          <a:prstGeom prst="rect">
            <a:avLst/>
          </a:prstGeom>
          <a:noFill/>
          <a:ln/>
        </p:spPr>
        <p:txBody>
          <a:bodyPr wrap="square" lIns="0" tIns="0" rIns="0" bIns="0" rtlCol="0" anchor="t">
            <a:normAutofit/>
          </a:bodyPr>
          <a:lstStyle/>
          <a:p>
            <a:pPr algn="l" marL="183642" indent="-183642">
              <a:lnSpc>
                <a:spcPts val="2400"/>
              </a:lnSpc>
              <a:buSzPct val="100000"/>
              <a:buChar char="•"/>
            </a:pPr>
            <a:r>
              <a:rPr lang="en-US" sz="1600" dirty="0">
                <a:solidFill>
                  <a:srgbClr val="4A5568"/>
                </a:solidFill>
                <a:latin typeface="Rubik" pitchFamily="34" charset="0"/>
                <a:ea typeface="Rubik" pitchFamily="34" charset="-122"/>
                <a:cs typeface="Rubik" pitchFamily="34" charset="-120"/>
              </a:rPr>
              <a:t>Andmebaas ja CRUD</a:t>
            </a:r>
            <a:endParaRPr lang="en-US" sz="1600" dirty="0"/>
          </a:p>
          <a:p>
            <a:pPr algn="l" marL="183642" indent="-183642">
              <a:lnSpc>
                <a:spcPts val="2400"/>
              </a:lnSpc>
              <a:buSzPct val="100000"/>
              <a:buChar char="•"/>
            </a:pPr>
            <a:r>
              <a:rPr lang="en-US" sz="1600" dirty="0">
                <a:solidFill>
                  <a:srgbClr val="4A5568"/>
                </a:solidFill>
                <a:latin typeface="Rubik" pitchFamily="34" charset="0"/>
                <a:ea typeface="Rubik" pitchFamily="34" charset="-122"/>
                <a:cs typeface="Rubik" pitchFamily="34" charset="-120"/>
              </a:rPr>
              <a:t>Valideerimine</a:t>
            </a:r>
            <a:endParaRPr lang="en-US" sz="1600" dirty="0"/>
          </a:p>
          <a:p>
            <a:pPr algn="l" marL="183642" indent="-183642">
              <a:lnSpc>
                <a:spcPts val="2400"/>
              </a:lnSpc>
              <a:buSzPct val="100000"/>
              <a:buChar char="•"/>
            </a:pPr>
            <a:r>
              <a:rPr lang="en-US" sz="1600" dirty="0">
                <a:solidFill>
                  <a:srgbClr val="4A5568"/>
                </a:solidFill>
                <a:latin typeface="Rubik" pitchFamily="34" charset="0"/>
                <a:ea typeface="Rubik" pitchFamily="34" charset="-122"/>
                <a:cs typeface="Rubik" pitchFamily="34" charset="-120"/>
              </a:rPr>
              <a:t>Kasutajaliides ja graafik</a:t>
            </a:r>
            <a:endParaRPr lang="en-US" sz="1600" dirty="0"/>
          </a:p>
          <a:p>
            <a:pPr algn="l" marL="183642" indent="-183642">
              <a:lnSpc>
                <a:spcPts val="2400"/>
              </a:lnSpc>
              <a:buSzPct val="100000"/>
              <a:buChar char="•"/>
            </a:pPr>
            <a:r>
              <a:rPr lang="en-US" sz="1600" dirty="0">
                <a:solidFill>
                  <a:srgbClr val="4A5568"/>
                </a:solidFill>
                <a:latin typeface="Rubik" pitchFamily="34" charset="0"/>
                <a:ea typeface="Rubik" pitchFamily="34" charset="-122"/>
                <a:cs typeface="Rubik" pitchFamily="34" charset="-120"/>
              </a:rPr>
              <a:t>Matemaatika</a:t>
            </a:r>
            <a:endParaRPr lang="en-US" sz="1600" dirty="0"/>
          </a:p>
          <a:p>
            <a:pPr algn="l" marL="183642" indent="-183642">
              <a:lnSpc>
                <a:spcPts val="2400"/>
              </a:lnSpc>
              <a:buSzPct val="100000"/>
              <a:buChar char="•"/>
            </a:pPr>
            <a:r>
              <a:rPr lang="en-US" sz="1600" dirty="0">
                <a:solidFill>
                  <a:srgbClr val="4A5568"/>
                </a:solidFill>
                <a:latin typeface="Rubik" pitchFamily="34" charset="0"/>
                <a:ea typeface="Rubik" pitchFamily="34" charset="-122"/>
                <a:cs typeface="Rubik" pitchFamily="34" charset="-120"/>
              </a:rPr>
              <a:t>Boonusülesanne</a:t>
            </a:r>
            <a:endParaRPr lang="en-US" sz="1600" dirty="0"/>
          </a:p>
        </p:txBody>
      </p:sp>
      <p:sp>
        <p:nvSpPr>
          <p:cNvPr id="9" name="Text 7"/>
          <p:cNvSpPr/>
          <p:nvPr/>
        </p:nvSpPr>
        <p:spPr>
          <a:xfrm>
            <a:off x="812800" y="6238239"/>
            <a:ext cx="26162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B"/>
                </a:solidFill>
                <a:latin typeface="Rubik" pitchFamily="34" charset="0"/>
                <a:ea typeface="Rubik" pitchFamily="34" charset="-122"/>
                <a:cs typeface="Rubik"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3B5BDB"/>
                </a:solidFill>
                <a:latin typeface="Rubik" pitchFamily="34" charset="0"/>
                <a:ea typeface="Rubik" pitchFamily="34" charset="-122"/>
                <a:cs typeface="Rubik" pitchFamily="34" charset="-120"/>
              </a:rPr>
              <a:t>KUIDAS TESTITI</a:t>
            </a:r>
            <a:endParaRPr lang="en-US" sz="1200" dirty="0"/>
          </a:p>
        </p:txBody>
      </p:sp>
      <p:sp>
        <p:nvSpPr>
          <p:cNvPr id="3" name="Text 1"/>
          <p:cNvSpPr/>
          <p:nvPr>
            <p:ph type="title"/>
          </p:nvPr>
        </p:nvSpPr>
        <p:spPr>
          <a:xfrm>
            <a:off x="812800" y="1102361"/>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Rubik" pitchFamily="34" charset="0"/>
                <a:ea typeface="Rubik" pitchFamily="34" charset="-122"/>
                <a:cs typeface="Rubik" pitchFamily="34" charset="-120"/>
              </a:rPr>
              <a:t>Neli meetodit</a:t>
            </a:r>
            <a:endParaRPr lang="en-US" sz="3200" dirty="0"/>
          </a:p>
        </p:txBody>
      </p:sp>
      <p:sp>
        <p:nvSpPr>
          <p:cNvPr id="4" name="Shape 2"/>
          <p:cNvSpPr/>
          <p:nvPr/>
        </p:nvSpPr>
        <p:spPr>
          <a:xfrm>
            <a:off x="815975" y="1928495"/>
            <a:ext cx="2520950" cy="1596390"/>
          </a:xfrm>
          <a:prstGeom prst="roundRect">
            <a:avLst>
              <a:gd name="adj" fmla="val 6165"/>
            </a:avLst>
          </a:prstGeom>
          <a:solidFill>
            <a:srgbClr val="FFFFFF"/>
          </a:solidFill>
          <a:ln w="6350">
            <a:solidFill>
              <a:srgbClr val="E2E4EA"/>
            </a:solidFill>
            <a:prstDash val="solid"/>
          </a:ln>
        </p:spPr>
      </p:sp>
      <p:pic>
        <p:nvPicPr>
          <p:cNvPr id="5" name="Image 0" descr="Users">    </p:cNvPr>
          <p:cNvPicPr>
            <a:picLocks noChangeAspect="1"/>
          </p:cNvPicPr>
          <p:nvPr/>
        </p:nvPicPr>
        <p:blipFill>
          <a:blip r:embed="rId1"/>
          <a:srcRect l="0" r="0" t="0" b="0"/>
          <a:stretch/>
        </p:blipFill>
        <p:spPr>
          <a:xfrm>
            <a:off x="1073150" y="2185670"/>
            <a:ext cx="406400" cy="406400"/>
          </a:xfrm>
          <a:prstGeom prst="rect">
            <a:avLst/>
          </a:prstGeom>
        </p:spPr>
      </p:pic>
      <p:sp>
        <p:nvSpPr>
          <p:cNvPr id="6" name="Text 3"/>
          <p:cNvSpPr/>
          <p:nvPr/>
        </p:nvSpPr>
        <p:spPr>
          <a:xfrm>
            <a:off x="1073150" y="2719070"/>
            <a:ext cx="2066798" cy="57404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Rubik" pitchFamily="34" charset="0"/>
                <a:ea typeface="Rubik" pitchFamily="34" charset="-122"/>
                <a:cs typeface="Rubik" pitchFamily="34" charset="-120"/>
              </a:rPr>
              <a:t>Musta kasti testimine</a:t>
            </a:r>
            <a:endParaRPr lang="en-US" sz="1800" dirty="0"/>
          </a:p>
        </p:txBody>
      </p:sp>
      <p:sp>
        <p:nvSpPr>
          <p:cNvPr id="7" name="Shape 4"/>
          <p:cNvSpPr/>
          <p:nvPr/>
        </p:nvSpPr>
        <p:spPr>
          <a:xfrm>
            <a:off x="3495675" y="1928495"/>
            <a:ext cx="2520950" cy="1596390"/>
          </a:xfrm>
          <a:prstGeom prst="roundRect">
            <a:avLst>
              <a:gd name="adj" fmla="val 6165"/>
            </a:avLst>
          </a:prstGeom>
          <a:solidFill>
            <a:srgbClr val="FFFFFF"/>
          </a:solidFill>
          <a:ln w="6350">
            <a:solidFill>
              <a:srgbClr val="E2E4EA"/>
            </a:solidFill>
            <a:prstDash val="solid"/>
          </a:ln>
        </p:spPr>
      </p:sp>
      <p:pic>
        <p:nvPicPr>
          <p:cNvPr id="8" name="Image 1" descr="Search">    </p:cNvPr>
          <p:cNvPicPr>
            <a:picLocks noChangeAspect="1"/>
          </p:cNvPicPr>
          <p:nvPr/>
        </p:nvPicPr>
        <p:blipFill>
          <a:blip r:embed="rId2"/>
          <a:srcRect l="0" r="0" t="0" b="0"/>
          <a:stretch/>
        </p:blipFill>
        <p:spPr>
          <a:xfrm>
            <a:off x="3752850" y="2185670"/>
            <a:ext cx="406400" cy="406400"/>
          </a:xfrm>
          <a:prstGeom prst="rect">
            <a:avLst/>
          </a:prstGeom>
        </p:spPr>
      </p:pic>
      <p:sp>
        <p:nvSpPr>
          <p:cNvPr id="9" name="Text 5"/>
          <p:cNvSpPr/>
          <p:nvPr/>
        </p:nvSpPr>
        <p:spPr>
          <a:xfrm>
            <a:off x="3752850" y="2719070"/>
            <a:ext cx="2066798" cy="57404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Rubik" pitchFamily="34" charset="0"/>
                <a:ea typeface="Rubik" pitchFamily="34" charset="-122"/>
                <a:cs typeface="Rubik" pitchFamily="34" charset="-120"/>
              </a:rPr>
              <a:t>Piir-</a:t>
            </a:r>
            <a:endParaRPr lang="en-US" sz="1800" dirty="0"/>
          </a:p>
          <a:p>
            <a:pPr algn="l" indent="0" marL="0">
              <a:lnSpc>
                <a:spcPts val="2160"/>
              </a:lnSpc>
              <a:buNone/>
            </a:pPr>
            <a:r>
              <a:rPr lang="en-US" sz="1800" b="1" dirty="0">
                <a:solidFill>
                  <a:srgbClr val="14213D"/>
                </a:solidFill>
                <a:latin typeface="Rubik" pitchFamily="34" charset="0"/>
                <a:ea typeface="Rubik" pitchFamily="34" charset="-122"/>
                <a:cs typeface="Rubik" pitchFamily="34" charset="-120"/>
              </a:rPr>
              <a:t>väärtused</a:t>
            </a:r>
            <a:endParaRPr lang="en-US" sz="1800" dirty="0"/>
          </a:p>
        </p:txBody>
      </p:sp>
      <p:sp>
        <p:nvSpPr>
          <p:cNvPr id="10" name="Shape 6"/>
          <p:cNvSpPr/>
          <p:nvPr/>
        </p:nvSpPr>
        <p:spPr>
          <a:xfrm>
            <a:off x="6175375" y="1928495"/>
            <a:ext cx="2520950" cy="1596390"/>
          </a:xfrm>
          <a:prstGeom prst="roundRect">
            <a:avLst>
              <a:gd name="adj" fmla="val 6165"/>
            </a:avLst>
          </a:prstGeom>
          <a:solidFill>
            <a:srgbClr val="FFFFFF"/>
          </a:solidFill>
          <a:ln w="6350">
            <a:solidFill>
              <a:srgbClr val="E2E4EA"/>
            </a:solidFill>
            <a:prstDash val="solid"/>
          </a:ln>
        </p:spPr>
      </p:sp>
      <p:pic>
        <p:nvPicPr>
          <p:cNvPr id="11" name="Image 2" descr="Code">    </p:cNvPr>
          <p:cNvPicPr>
            <a:picLocks noChangeAspect="1"/>
          </p:cNvPicPr>
          <p:nvPr/>
        </p:nvPicPr>
        <p:blipFill>
          <a:blip r:embed="rId3"/>
          <a:srcRect l="0" r="0" t="0" b="0"/>
          <a:stretch/>
        </p:blipFill>
        <p:spPr>
          <a:xfrm>
            <a:off x="6432550" y="2185670"/>
            <a:ext cx="406400" cy="406400"/>
          </a:xfrm>
          <a:prstGeom prst="rect">
            <a:avLst/>
          </a:prstGeom>
        </p:spPr>
      </p:pic>
      <p:sp>
        <p:nvSpPr>
          <p:cNvPr id="12" name="Text 7"/>
          <p:cNvSpPr/>
          <p:nvPr/>
        </p:nvSpPr>
        <p:spPr>
          <a:xfrm>
            <a:off x="6432550" y="2719070"/>
            <a:ext cx="2066798" cy="57404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Rubik" pitchFamily="34" charset="0"/>
                <a:ea typeface="Rubik" pitchFamily="34" charset="-122"/>
                <a:cs typeface="Rubik" pitchFamily="34" charset="-120"/>
              </a:rPr>
              <a:t>Koodi-</a:t>
            </a:r>
            <a:endParaRPr lang="en-US" sz="1800" dirty="0"/>
          </a:p>
          <a:p>
            <a:pPr algn="l" indent="0" marL="0">
              <a:lnSpc>
                <a:spcPts val="2160"/>
              </a:lnSpc>
              <a:buNone/>
            </a:pPr>
            <a:r>
              <a:rPr lang="en-US" sz="1800" b="1" dirty="0">
                <a:solidFill>
                  <a:srgbClr val="14213D"/>
                </a:solidFill>
                <a:latin typeface="Rubik" pitchFamily="34" charset="0"/>
                <a:ea typeface="Rubik" pitchFamily="34" charset="-122"/>
                <a:cs typeface="Rubik" pitchFamily="34" charset="-120"/>
              </a:rPr>
              <a:t>ülevaatus</a:t>
            </a:r>
            <a:endParaRPr lang="en-US" sz="1800" dirty="0"/>
          </a:p>
        </p:txBody>
      </p:sp>
      <p:sp>
        <p:nvSpPr>
          <p:cNvPr id="13" name="Shape 8"/>
          <p:cNvSpPr/>
          <p:nvPr/>
        </p:nvSpPr>
        <p:spPr>
          <a:xfrm>
            <a:off x="8855075" y="1928495"/>
            <a:ext cx="2520950" cy="1596390"/>
          </a:xfrm>
          <a:prstGeom prst="roundRect">
            <a:avLst>
              <a:gd name="adj" fmla="val 6165"/>
            </a:avLst>
          </a:prstGeom>
          <a:solidFill>
            <a:srgbClr val="FFFFFF"/>
          </a:solidFill>
          <a:ln w="6350">
            <a:solidFill>
              <a:srgbClr val="E2E4EA"/>
            </a:solidFill>
            <a:prstDash val="solid"/>
          </a:ln>
        </p:spPr>
      </p:sp>
      <p:pic>
        <p:nvPicPr>
          <p:cNvPr id="14" name="Image 3" descr="Check">    </p:cNvPr>
          <p:cNvPicPr>
            <a:picLocks noChangeAspect="1"/>
          </p:cNvPicPr>
          <p:nvPr/>
        </p:nvPicPr>
        <p:blipFill>
          <a:blip r:embed="rId4"/>
          <a:srcRect l="0" r="0" t="0" b="0"/>
          <a:stretch/>
        </p:blipFill>
        <p:spPr>
          <a:xfrm>
            <a:off x="9112250" y="2185670"/>
            <a:ext cx="406400" cy="406400"/>
          </a:xfrm>
          <a:prstGeom prst="rect">
            <a:avLst/>
          </a:prstGeom>
        </p:spPr>
      </p:pic>
      <p:sp>
        <p:nvSpPr>
          <p:cNvPr id="15" name="Text 9"/>
          <p:cNvSpPr/>
          <p:nvPr/>
        </p:nvSpPr>
        <p:spPr>
          <a:xfrm>
            <a:off x="9112250" y="2719070"/>
            <a:ext cx="2066798" cy="57404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Rubik" pitchFamily="34" charset="0"/>
                <a:ea typeface="Rubik" pitchFamily="34" charset="-122"/>
                <a:cs typeface="Rubik" pitchFamily="34" charset="-120"/>
              </a:rPr>
              <a:t>Ühik-</a:t>
            </a:r>
            <a:endParaRPr lang="en-US" sz="1800" dirty="0"/>
          </a:p>
          <a:p>
            <a:pPr algn="l" indent="0" marL="0">
              <a:lnSpc>
                <a:spcPts val="2160"/>
              </a:lnSpc>
              <a:buNone/>
            </a:pPr>
            <a:r>
              <a:rPr lang="en-US" sz="1800" b="1" dirty="0">
                <a:solidFill>
                  <a:srgbClr val="14213D"/>
                </a:solidFill>
                <a:latin typeface="Rubik" pitchFamily="34" charset="0"/>
                <a:ea typeface="Rubik" pitchFamily="34" charset="-122"/>
                <a:cs typeface="Rubik" pitchFamily="34" charset="-120"/>
              </a:rPr>
              <a:t>testid</a:t>
            </a:r>
            <a:endParaRPr lang="en-US" sz="1800" dirty="0"/>
          </a:p>
        </p:txBody>
      </p:sp>
      <p:sp>
        <p:nvSpPr>
          <p:cNvPr id="16" name="Text 10"/>
          <p:cNvSpPr/>
          <p:nvPr/>
        </p:nvSpPr>
        <p:spPr>
          <a:xfrm>
            <a:off x="812800" y="3883661"/>
            <a:ext cx="1405361" cy="419100"/>
          </a:xfrm>
          <a:prstGeom prst="roundRect">
            <a:avLst>
              <a:gd name="adj" fmla="val 50000"/>
            </a:avLst>
          </a:prstGeom>
          <a:solidFill>
            <a:srgbClr val="DCEBDD"/>
          </a:solidFill>
          <a:ln/>
        </p:spPr>
        <p:txBody>
          <a:bodyPr wrap="none" lIns="0" tIns="0" rIns="0" bIns="0" rtlCol="0" anchor="ctr">
            <a:normAutofit/>
          </a:bodyPr>
          <a:lstStyle/>
          <a:p>
            <a:pPr algn="ctr" indent="0" marL="0">
              <a:lnSpc>
                <a:spcPts val="2100"/>
              </a:lnSpc>
              <a:buNone/>
            </a:pPr>
            <a:r>
              <a:rPr lang="en-US" sz="1500" b="1" dirty="0">
                <a:solidFill>
                  <a:srgbClr val="1F5130"/>
                </a:solidFill>
                <a:latin typeface="Rubik" pitchFamily="34" charset="0"/>
                <a:ea typeface="Rubik" pitchFamily="34" charset="-122"/>
                <a:cs typeface="Rubik" pitchFamily="34" charset="-120"/>
              </a:rPr>
              <a:t>OK</a:t>
            </a:r>
            <a:r>
              <a:rPr lang="en-US" sz="1500" dirty="0">
                <a:solidFill>
                  <a:srgbClr val="1F5130"/>
                </a:solidFill>
                <a:latin typeface="Rubik" pitchFamily="34" charset="0"/>
                <a:ea typeface="Rubik" pitchFamily="34" charset="-122"/>
                <a:cs typeface="Rubik" pitchFamily="34" charset="-120"/>
              </a:rPr>
              <a:t> – töötab</a:t>
            </a:r>
            <a:endParaRPr lang="en-US" sz="1500" dirty="0"/>
          </a:p>
        </p:txBody>
      </p:sp>
      <p:sp>
        <p:nvSpPr>
          <p:cNvPr id="17" name="Text 11"/>
          <p:cNvSpPr/>
          <p:nvPr/>
        </p:nvSpPr>
        <p:spPr>
          <a:xfrm>
            <a:off x="2370561" y="3883661"/>
            <a:ext cx="2117090" cy="419100"/>
          </a:xfrm>
          <a:prstGeom prst="roundRect">
            <a:avLst>
              <a:gd name="adj" fmla="val 50000"/>
            </a:avLst>
          </a:prstGeom>
          <a:solidFill>
            <a:srgbClr val="FBE8C8"/>
          </a:solidFill>
          <a:ln/>
        </p:spPr>
        <p:txBody>
          <a:bodyPr wrap="none" lIns="0" tIns="0" rIns="0" bIns="0" rtlCol="0" anchor="ctr">
            <a:normAutofit/>
          </a:bodyPr>
          <a:lstStyle/>
          <a:p>
            <a:pPr algn="ctr" indent="0" marL="0">
              <a:lnSpc>
                <a:spcPts val="2100"/>
              </a:lnSpc>
              <a:buNone/>
            </a:pPr>
            <a:r>
              <a:rPr lang="en-US" sz="1500" b="1" dirty="0">
                <a:solidFill>
                  <a:srgbClr val="7A4A06"/>
                </a:solidFill>
                <a:latin typeface="Rubik" pitchFamily="34" charset="0"/>
                <a:ea typeface="Rubik" pitchFamily="34" charset="-122"/>
                <a:cs typeface="Rubik" pitchFamily="34" charset="-120"/>
              </a:rPr>
              <a:t>OSALINE</a:t>
            </a:r>
            <a:r>
              <a:rPr lang="en-US" sz="1500" dirty="0">
                <a:solidFill>
                  <a:srgbClr val="7A4A06"/>
                </a:solidFill>
                <a:latin typeface="Rubik" pitchFamily="34" charset="0"/>
                <a:ea typeface="Rubik" pitchFamily="34" charset="-122"/>
                <a:cs typeface="Rubik" pitchFamily="34" charset="-120"/>
              </a:rPr>
              <a:t> – osaliselt</a:t>
            </a:r>
            <a:endParaRPr lang="en-US" sz="1500" dirty="0"/>
          </a:p>
        </p:txBody>
      </p:sp>
      <p:sp>
        <p:nvSpPr>
          <p:cNvPr id="18" name="Text 12"/>
          <p:cNvSpPr/>
          <p:nvPr/>
        </p:nvSpPr>
        <p:spPr>
          <a:xfrm>
            <a:off x="4640051" y="3883661"/>
            <a:ext cx="1693968" cy="419100"/>
          </a:xfrm>
          <a:prstGeom prst="roundRect">
            <a:avLst>
              <a:gd name="adj" fmla="val 50000"/>
            </a:avLst>
          </a:prstGeom>
          <a:solidFill>
            <a:srgbClr val="F8D9D4"/>
          </a:solidFill>
          <a:ln/>
        </p:spPr>
        <p:txBody>
          <a:bodyPr wrap="none" lIns="0" tIns="0" rIns="0" bIns="0" rtlCol="0" anchor="ctr">
            <a:normAutofit/>
          </a:bodyPr>
          <a:lstStyle/>
          <a:p>
            <a:pPr algn="ctr" indent="0" marL="0">
              <a:lnSpc>
                <a:spcPts val="2100"/>
              </a:lnSpc>
              <a:buNone/>
            </a:pPr>
            <a:r>
              <a:rPr lang="en-US" sz="1500" b="1" dirty="0">
                <a:solidFill>
                  <a:srgbClr val="8A2416"/>
                </a:solidFill>
                <a:latin typeface="Rubik" pitchFamily="34" charset="0"/>
                <a:ea typeface="Rubik" pitchFamily="34" charset="-122"/>
                <a:cs typeface="Rubik" pitchFamily="34" charset="-120"/>
              </a:rPr>
              <a:t>VIGA</a:t>
            </a:r>
            <a:r>
              <a:rPr lang="en-US" sz="1500" dirty="0">
                <a:solidFill>
                  <a:srgbClr val="8A2416"/>
                </a:solidFill>
                <a:latin typeface="Rubik" pitchFamily="34" charset="0"/>
                <a:ea typeface="Rubik" pitchFamily="34" charset="-122"/>
                <a:cs typeface="Rubik" pitchFamily="34" charset="-120"/>
              </a:rPr>
              <a:t> – ei tööta</a:t>
            </a:r>
            <a:endParaRPr lang="en-US" sz="1500" dirty="0"/>
          </a:p>
        </p:txBody>
      </p:sp>
      <p:sp>
        <p:nvSpPr>
          <p:cNvPr id="19" name="Text 13"/>
          <p:cNvSpPr/>
          <p:nvPr/>
        </p:nvSpPr>
        <p:spPr>
          <a:xfrm>
            <a:off x="812800" y="6238239"/>
            <a:ext cx="26162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B"/>
                </a:solidFill>
                <a:latin typeface="Rubik" pitchFamily="34" charset="0"/>
                <a:ea typeface="Rubik" pitchFamily="34" charset="-122"/>
                <a:cs typeface="Rubik"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3B5BDB"/>
                </a:solidFill>
                <a:latin typeface="Rubik" pitchFamily="34" charset="0"/>
                <a:ea typeface="Rubik" pitchFamily="34" charset="-122"/>
                <a:cs typeface="Rubik" pitchFamily="34" charset="-120"/>
              </a:rPr>
              <a:t>PAIGALDAMINE</a:t>
            </a:r>
            <a:endParaRPr lang="en-US" sz="1200" dirty="0"/>
          </a:p>
        </p:txBody>
      </p:sp>
      <p:sp>
        <p:nvSpPr>
          <p:cNvPr id="3" name="Text 1"/>
          <p:cNvSpPr/>
          <p:nvPr>
            <p:ph type="title"/>
          </p:nvPr>
        </p:nvSpPr>
        <p:spPr>
          <a:xfrm>
            <a:off x="812800" y="1102361"/>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Rubik" pitchFamily="34" charset="0"/>
                <a:ea typeface="Rubik" pitchFamily="34" charset="-122"/>
                <a:cs typeface="Rubik" pitchFamily="34" charset="-120"/>
              </a:rPr>
              <a:t>Käivitamine README järgi</a:t>
            </a:r>
            <a:endParaRPr lang="en-US" sz="3200" dirty="0"/>
          </a:p>
        </p:txBody>
      </p:sp>
      <p:sp>
        <p:nvSpPr>
          <p:cNvPr id="4" name="Shape 2"/>
          <p:cNvSpPr/>
          <p:nvPr/>
        </p:nvSpPr>
        <p:spPr>
          <a:xfrm>
            <a:off x="812800" y="1874520"/>
            <a:ext cx="5715000" cy="2192020"/>
          </a:xfrm>
          <a:prstGeom prst="roundRect">
            <a:avLst>
              <a:gd name="adj" fmla="val 3476"/>
            </a:avLst>
          </a:prstGeom>
          <a:solidFill>
            <a:srgbClr val="FFFFFF"/>
          </a:solidFill>
          <a:ln/>
        </p:spPr>
      </p:sp>
      <p:sp>
        <p:nvSpPr>
          <p:cNvPr id="5" name="Shape 3"/>
          <p:cNvSpPr/>
          <p:nvPr/>
        </p:nvSpPr>
        <p:spPr>
          <a:xfrm>
            <a:off x="812800" y="1874520"/>
            <a:ext cx="5715000" cy="2192020"/>
          </a:xfrm>
          <a:custGeom>
            <a:avLst/>
            <a:gdLst/>
            <a:ahLst/>
            <a:cxnLst/>
            <a:rect l="l" t="t" r="r" b="b"/>
            <a:pathLst>
              <a:path w="5715000" h="2192020">
                <a:moveTo>
                  <a:pt x="76200" y="2192020"/>
                </a:moveTo>
                <a:lnTo>
                  <a:pt x="76200" y="2192020"/>
                </a:lnTo>
                <a:arcTo hR="76200" wR="76200" stAng="5400000" swAng="5400000"/>
                <a:lnTo>
                  <a:pt x="0" y="76200"/>
                </a:lnTo>
                <a:arcTo hR="76200" wR="76200" stAng="10800000" swAng="5400000"/>
                <a:lnTo>
                  <a:pt x="5638800" y="0"/>
                </a:lnTo>
                <a:arcTo hR="76200" wR="76200" stAng="16200000" swAng="5400000"/>
                <a:lnTo>
                  <a:pt x="5715000" y="76200"/>
                </a:lnTo>
                <a:arcTo hR="63500" wR="76200" stAng="0" swAng="-5400000"/>
                <a:lnTo>
                  <a:pt x="76200" y="12700"/>
                </a:lnTo>
                <a:arcTo hR="63500" wR="63500" stAng="16200000" swAng="-5400000"/>
                <a:lnTo>
                  <a:pt x="12700" y="2115820"/>
                </a:lnTo>
                <a:arcTo hR="76200" wR="63500" stAng="10800000" swAng="-5400000"/>
                <a:close/>
              </a:path>
            </a:pathLst>
          </a:custGeom>
          <a:solidFill>
            <a:srgbClr val="141413">
              <a:alpha val="22000"/>
            </a:srgbClr>
          </a:solidFill>
          <a:ln/>
        </p:spPr>
      </p:sp>
      <p:sp>
        <p:nvSpPr>
          <p:cNvPr id="6" name="Shape 4"/>
          <p:cNvSpPr/>
          <p:nvPr/>
        </p:nvSpPr>
        <p:spPr>
          <a:xfrm>
            <a:off x="825500" y="1887220"/>
            <a:ext cx="5702300" cy="386080"/>
          </a:xfrm>
          <a:custGeom>
            <a:avLst/>
            <a:gdLst/>
            <a:ahLst/>
            <a:cxnLst/>
            <a:rect l="l" t="t" r="r" b="b"/>
            <a:pathLst>
              <a:path w="5702300" h="386080">
                <a:moveTo>
                  <a:pt x="0" y="63500"/>
                </a:moveTo>
                <a:arcTo hR="63500" wR="63500" stAng="10800000" swAng="5400000"/>
                <a:lnTo>
                  <a:pt x="5626100" y="0"/>
                </a:lnTo>
                <a:arcTo hR="76200" wR="76200" stAng="16200000" swAng="5400000"/>
                <a:lnTo>
                  <a:pt x="5702300" y="386080"/>
                </a:lnTo>
                <a:lnTo>
                  <a:pt x="0" y="386080"/>
                </a:lnTo>
                <a:close/>
              </a:path>
            </a:pathLst>
          </a:custGeom>
          <a:solidFill>
            <a:srgbClr val="ECECEC"/>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887220"/>
          <a:ext cx="5702300" cy="2179320"/>
        </p:xfrm>
        <a:graphic>
          <a:graphicData uri="http://schemas.openxmlformats.org/drawingml/2006/table">
            <a:tbl>
              <a:tblPr/>
              <a:tblGrid>
                <a:gridCol w="2166874"/>
                <a:gridCol w="3535426"/>
              </a:tblGrid>
              <a:tr h="386080">
                <a:tc>
                  <a:txBody>
                    <a:bodyPr/>
                    <a:lstStyle/>
                    <a:p>
                      <a:pPr indent="0" marL="0">
                        <a:lnSpc>
                          <a:spcPts val="1960"/>
                        </a:lnSpc>
                        <a:buNone/>
                      </a:pPr>
                      <a:r>
                        <a:rPr lang="en-US" sz="1400" b="1" dirty="0">
                          <a:solidFill>
                            <a:srgbClr val="14213D"/>
                          </a:solidFill>
                          <a:latin typeface="Rubik" pitchFamily="34" charset="0"/>
                          <a:ea typeface="Rubik" pitchFamily="34" charset="-122"/>
                          <a:cs typeface="Rubik" pitchFamily="34" charset="-120"/>
                        </a:rPr>
                        <a:t>Samm</a:t>
                      </a:r>
                      <a:endParaRPr lang="en-US" sz="1400" dirty="0">
                        <a:latin typeface="Rubik" charset="0"/>
                        <a:ea typeface="Rubik" charset="0"/>
                        <a:cs typeface="Rubik" charset="0"/>
                      </a:endParaRPr>
                    </a:p>
                  </a:txBody>
                  <a:tcPr marL="62230" marR="62230" marT="62230" marB="62230" anchor="t">
                    <a:lnL w="0" cap="flat" cmpd="sng" algn="ctr">
                      <a:noFill/>
                    </a:lnL>
                    <a:lnR w="12700" cap="flat" cmpd="sng" algn="ctr">
                      <a:solidFill>
                        <a:srgbClr val="BCBCBC"/>
                      </a:solidFill>
                      <a:prstDash val="solid"/>
                      <a:round/>
                      <a:headEnd type="none" w="med" len="med"/>
                      <a:tailEnd type="none" w="med" len="med"/>
                    </a:lnR>
                    <a:lnT w="0" cap="flat" cmpd="sng" algn="ctr">
                      <a:noFill/>
                    </a:lnT>
                    <a:lnB w="12700" cap="flat" cmpd="sng" algn="ctr">
                      <a:solidFill>
                        <a:srgbClr val="BCBCBC"/>
                      </a:solidFill>
                      <a:prstDash val="solid"/>
                      <a:round/>
                      <a:headEnd type="none" w="med" len="med"/>
                      <a:tailEnd type="none" w="med" len="med"/>
                    </a:lnB>
                  </a:tcPr>
                </a:tc>
                <a:tc>
                  <a:txBody>
                    <a:bodyPr/>
                    <a:lstStyle/>
                    <a:p>
                      <a:pPr indent="0" marL="0">
                        <a:lnSpc>
                          <a:spcPts val="1960"/>
                        </a:lnSpc>
                        <a:buNone/>
                      </a:pPr>
                      <a:r>
                        <a:rPr lang="en-US" sz="1400" b="1" dirty="0">
                          <a:solidFill>
                            <a:srgbClr val="14213D"/>
                          </a:solidFill>
                          <a:latin typeface="Rubik" pitchFamily="34" charset="0"/>
                          <a:ea typeface="Rubik" pitchFamily="34" charset="-122"/>
                          <a:cs typeface="Rubik" pitchFamily="34" charset="-120"/>
                        </a:rPr>
                        <a:t>Tulemus</a:t>
                      </a:r>
                      <a:endParaRPr lang="en-US" sz="1400" dirty="0">
                        <a:latin typeface="Rubik" charset="0"/>
                        <a:ea typeface="Rubik" charset="0"/>
                        <a:cs typeface="Rubik" charset="0"/>
                      </a:endParaRPr>
                    </a:p>
                  </a:txBody>
                  <a:tcPr marL="62230" marR="62230" marT="62230" marB="6223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0" cap="flat" cmpd="sng" algn="ctr">
                      <a:noFill/>
                    </a:lnT>
                    <a:lnB w="12700" cap="flat" cmpd="sng" algn="ctr">
                      <a:solidFill>
                        <a:srgbClr val="BCBCBC"/>
                      </a:solidFill>
                      <a:prstDash val="solid"/>
                      <a:round/>
                      <a:headEnd type="none" w="med" len="med"/>
                      <a:tailEnd type="none" w="med" len="med"/>
                    </a:lnB>
                  </a:tcPr>
                </a:tc>
              </a:tr>
              <a:tr h="386080">
                <a:tc>
                  <a:txBody>
                    <a:bodyPr/>
                    <a:lstStyle/>
                    <a:p>
                      <a:pPr indent="0" marL="0">
                        <a:lnSpc>
                          <a:spcPts val="1960"/>
                        </a:lnSpc>
                        <a:buNone/>
                      </a:pPr>
                      <a:r>
                        <a:rPr lang="en-US" sz="1400" dirty="0">
                          <a:solidFill>
                            <a:srgbClr val="14213D"/>
                          </a:solidFill>
                          <a:latin typeface="Rubik" pitchFamily="34" charset="0"/>
                          <a:ea typeface="Rubik" pitchFamily="34" charset="-122"/>
                          <a:cs typeface="Rubik" pitchFamily="34" charset="-120"/>
                        </a:rPr>
                        <a:t>npm install</a:t>
                      </a:r>
                      <a:endParaRPr lang="en-US" sz="1400" dirty="0">
                        <a:latin typeface="Rubik" charset="0"/>
                        <a:ea typeface="Rubik" charset="0"/>
                        <a:cs typeface="Rubik" charset="0"/>
                      </a:endParaRPr>
                    </a:p>
                  </a:txBody>
                  <a:tcPr marL="62230" marR="62230" marT="62230" marB="6223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Rubik" pitchFamily="34" charset="0"/>
                          <a:ea typeface="Rubik" pitchFamily="34" charset="-122"/>
                          <a:cs typeface="Rubik" pitchFamily="34" charset="-120"/>
                        </a:rPr>
                        <a:t>OK</a:t>
                      </a:r>
                      <a:endParaRPr lang="en-US" sz="1400" dirty="0">
                        <a:latin typeface="Rubik" charset="0"/>
                        <a:ea typeface="Rubik" charset="0"/>
                        <a:cs typeface="Rubik"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6080">
                <a:tc>
                  <a:txBody>
                    <a:bodyPr/>
                    <a:lstStyle/>
                    <a:p>
                      <a:pPr indent="0" marL="0">
                        <a:lnSpc>
                          <a:spcPts val="1960"/>
                        </a:lnSpc>
                        <a:buNone/>
                      </a:pPr>
                      <a:r>
                        <a:rPr lang="en-US" sz="1400" dirty="0">
                          <a:solidFill>
                            <a:srgbClr val="14213D"/>
                          </a:solidFill>
                          <a:latin typeface="Rubik" pitchFamily="34" charset="0"/>
                          <a:ea typeface="Rubik" pitchFamily="34" charset="-122"/>
                          <a:cs typeface="Rubik" pitchFamily="34" charset="-120"/>
                        </a:rPr>
                        <a:t>npm run dev</a:t>
                      </a:r>
                      <a:endParaRPr lang="en-US" sz="1400" dirty="0">
                        <a:latin typeface="Rubik" charset="0"/>
                        <a:ea typeface="Rubik" charset="0"/>
                        <a:cs typeface="Rubik" charset="0"/>
                      </a:endParaRPr>
                    </a:p>
                  </a:txBody>
                  <a:tcPr marL="62230" marR="62230" marT="62230" marB="6223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Rubik" pitchFamily="34" charset="0"/>
                          <a:ea typeface="Rubik" pitchFamily="34" charset="-122"/>
                          <a:cs typeface="Rubik" pitchFamily="34" charset="-120"/>
                        </a:rPr>
                        <a:t>Kooli arvuti keelas, käivitasin eraldi</a:t>
                      </a:r>
                      <a:endParaRPr lang="en-US" sz="1400" dirty="0">
                        <a:latin typeface="Rubik" charset="0"/>
                        <a:ea typeface="Rubik" charset="0"/>
                        <a:cs typeface="Rubik"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635000">
                <a:tc>
                  <a:txBody>
                    <a:bodyPr/>
                    <a:lstStyle/>
                    <a:p>
                      <a:pPr indent="0" marL="0">
                        <a:lnSpc>
                          <a:spcPts val="1960"/>
                        </a:lnSpc>
                        <a:buNone/>
                      </a:pPr>
                      <a:r>
                        <a:rPr lang="en-US" sz="1400" dirty="0">
                          <a:solidFill>
                            <a:srgbClr val="14213D"/>
                          </a:solidFill>
                          <a:latin typeface="Rubik" pitchFamily="34" charset="0"/>
                          <a:ea typeface="Rubik" pitchFamily="34" charset="-122"/>
                          <a:cs typeface="Rubik" pitchFamily="34" charset="-120"/>
                        </a:rPr>
                        <a:t>dotnet build</a:t>
                      </a:r>
                      <a:endParaRPr lang="en-US" sz="1400" dirty="0">
                        <a:latin typeface="Rubik" charset="0"/>
                        <a:ea typeface="Rubik" charset="0"/>
                        <a:cs typeface="Rubik" charset="0"/>
                      </a:endParaRPr>
                    </a:p>
                  </a:txBody>
                  <a:tcPr marL="62230" marR="62230" marT="62230" marB="62230" anchor="t">
                    <a:lnL w="0" cap="flat" cmpd="sng" algn="ctr">
                      <a:noFill/>
                    </a:lnL>
                    <a:lnR w="12700" cap="flat" cmpd="sng" algn="ctr">
                      <a:solidFill>
                        <a:srgbClr val="C9BDB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9BDBB"/>
                      </a:solidFill>
                      <a:prstDash val="solid"/>
                      <a:round/>
                      <a:headEnd type="none" w="med" len="med"/>
                      <a:tailEnd type="none" w="med" len="med"/>
                    </a:lnB>
                    <a:solidFill>
                      <a:srgbClr val="FCEDEA"/>
                    </a:solidFill>
                  </a:tcPr>
                </a:tc>
                <a:tc>
                  <a:txBody>
                    <a:bodyPr/>
                    <a:lstStyle/>
                    <a:p>
                      <a:pPr indent="0" marL="0">
                        <a:lnSpc>
                          <a:spcPts val="1960"/>
                        </a:lnSpc>
                        <a:buNone/>
                      </a:pPr>
                      <a:r>
                        <a:rPr lang="en-US" sz="1400" dirty="0">
                          <a:solidFill>
                            <a:srgbClr val="14213D"/>
                          </a:solidFill>
                          <a:latin typeface="Rubik" pitchFamily="34" charset="0"/>
                          <a:ea typeface="Rubik" pitchFamily="34" charset="-122"/>
                          <a:cs typeface="Rubik" pitchFamily="34" charset="-120"/>
                        </a:rPr>
                        <a:t>Viga V-01: nõuab SDK 10.0.102, arvutis 10.0.100</a:t>
                      </a:r>
                      <a:endParaRPr lang="en-US" sz="1400" dirty="0">
                        <a:latin typeface="Rubik" charset="0"/>
                        <a:ea typeface="Rubik" charset="0"/>
                        <a:cs typeface="Rubik" charset="0"/>
                      </a:endParaRPr>
                    </a:p>
                  </a:txBody>
                  <a:tcPr marL="62230" marR="62230" marT="62230" marB="62230" anchor="t">
                    <a:lnL w="12700" cap="flat" cmpd="sng" algn="ctr">
                      <a:solidFill>
                        <a:srgbClr val="C9BDBB"/>
                      </a:solidFill>
                      <a:prstDash val="solid"/>
                      <a:round/>
                      <a:headEnd type="none" w="med" len="med"/>
                      <a:tailEnd type="none" w="med" len="med"/>
                    </a:lnL>
                    <a:lnR w="12700" cap="flat" cmpd="sng" algn="ctr">
                      <a:solidFill>
                        <a:srgbClr val="C9BDB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9BDBB"/>
                      </a:solidFill>
                      <a:prstDash val="solid"/>
                      <a:round/>
                      <a:headEnd type="none" w="med" len="med"/>
                      <a:tailEnd type="none" w="med" len="med"/>
                    </a:lnB>
                    <a:solidFill>
                      <a:srgbClr val="FCEDEA"/>
                    </a:solidFill>
                  </a:tcPr>
                </a:tc>
              </a:tr>
              <a:tr h="386080">
                <a:tc>
                  <a:txBody>
                    <a:bodyPr/>
                    <a:lstStyle/>
                    <a:p>
                      <a:pPr indent="0" marL="0">
                        <a:lnSpc>
                          <a:spcPts val="1960"/>
                        </a:lnSpc>
                        <a:buNone/>
                      </a:pPr>
                      <a:r>
                        <a:rPr lang="en-US" sz="1400" dirty="0">
                          <a:solidFill>
                            <a:srgbClr val="14213D"/>
                          </a:solidFill>
                          <a:latin typeface="Rubik" pitchFamily="34" charset="0"/>
                          <a:ea typeface="Rubik" pitchFamily="34" charset="-122"/>
                          <a:cs typeface="Rubik" pitchFamily="34" charset="-120"/>
                        </a:rPr>
                        <a:t>Andmebaas</a:t>
                      </a:r>
                      <a:endParaRPr lang="en-US" sz="1400" dirty="0">
                        <a:latin typeface="Rubik" charset="0"/>
                        <a:ea typeface="Rubik" charset="0"/>
                        <a:cs typeface="Rubik" charset="0"/>
                      </a:endParaRPr>
                    </a:p>
                  </a:txBody>
                  <a:tcPr marL="62230" marR="62230" marT="62230" marB="62230" anchor="t">
                    <a:lnL w="0" cap="flat" cmpd="sng" algn="ctr">
                      <a:noFill/>
                    </a:lnL>
                    <a:lnR w="12700" cap="flat" cmpd="sng" algn="ctr">
                      <a:solidFill>
                        <a:srgbClr val="CBCBCB"/>
                      </a:solidFill>
                      <a:prstDash val="solid"/>
                      <a:round/>
                      <a:headEnd type="none" w="med" len="med"/>
                      <a:tailEnd type="none" w="med" len="med"/>
                    </a:lnR>
                    <a:lnT w="12700" cap="flat" cmpd="sng" algn="ctr">
                      <a:solidFill>
                        <a:srgbClr val="C9BDB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Rubik" pitchFamily="34" charset="0"/>
                          <a:ea typeface="Rubik" pitchFamily="34" charset="-122"/>
                          <a:cs typeface="Rubik" pitchFamily="34" charset="-120"/>
                        </a:rPr>
                        <a:t>Tekib ise koos näidisandmetega</a:t>
                      </a:r>
                      <a:endParaRPr lang="en-US" sz="1400" dirty="0">
                        <a:latin typeface="Rubik" charset="0"/>
                        <a:ea typeface="Rubik" charset="0"/>
                        <a:cs typeface="Rubik"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9BDB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8" name="Shape 5"/>
          <p:cNvSpPr/>
          <p:nvPr/>
        </p:nvSpPr>
        <p:spPr>
          <a:xfrm>
            <a:off x="6832600" y="1874520"/>
            <a:ext cx="4546600" cy="1657350"/>
          </a:xfrm>
          <a:prstGeom prst="roundRect">
            <a:avLst>
              <a:gd name="adj" fmla="val 4598"/>
            </a:avLst>
          </a:prstGeom>
          <a:solidFill>
            <a:srgbClr val="FFFFFF"/>
          </a:solidFill>
          <a:ln/>
        </p:spPr>
      </p:sp>
      <p:pic>
        <p:nvPicPr>
          <p:cNvPr id="9" name="Image 0" descr="Töötava rakenduse avaleht">    </p:cNvPr>
          <p:cNvPicPr>
            <a:picLocks noChangeAspect="1"/>
          </p:cNvPicPr>
          <p:nvPr/>
        </p:nvPicPr>
        <p:blipFill>
          <a:blip r:embed="rId1"/>
          <a:srcRect l="-253" r="-253" t="0" b="0"/>
          <a:stretch/>
        </p:blipFill>
        <p:spPr>
          <a:xfrm>
            <a:off x="6838950" y="1880870"/>
            <a:ext cx="4533900" cy="1644650"/>
          </a:xfrm>
          <a:prstGeom prst="roundRect">
            <a:avLst>
              <a:gd name="adj" fmla="val 4247"/>
            </a:avLst>
          </a:prstGeom>
        </p:spPr>
      </p:pic>
      <p:sp>
        <p:nvSpPr>
          <p:cNvPr id="10" name="Shape 6"/>
          <p:cNvSpPr/>
          <p:nvPr/>
        </p:nvSpPr>
        <p:spPr>
          <a:xfrm>
            <a:off x="6835775" y="1877695"/>
            <a:ext cx="4540250" cy="1651000"/>
          </a:xfrm>
          <a:prstGeom prst="roundRect">
            <a:avLst>
              <a:gd name="adj" fmla="val 4423"/>
            </a:avLst>
          </a:prstGeom>
          <a:noFill/>
          <a:ln w="6350">
            <a:solidFill>
              <a:srgbClr val="E2E4EA"/>
            </a:solidFill>
            <a:prstDash val="solid"/>
          </a:ln>
        </p:spPr>
      </p:sp>
      <p:sp>
        <p:nvSpPr>
          <p:cNvPr id="11" name="Text 7"/>
          <p:cNvSpPr/>
          <p:nvPr/>
        </p:nvSpPr>
        <p:spPr>
          <a:xfrm>
            <a:off x="6832600" y="3633470"/>
            <a:ext cx="4682998"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Rubik" pitchFamily="34" charset="0"/>
                <a:ea typeface="Rubik" pitchFamily="34" charset="-122"/>
                <a:cs typeface="Rubik" pitchFamily="34" charset="-120"/>
              </a:rPr>
              <a:t>Pärast SDK versiooni muutmist failis global.json töötas kõik.</a:t>
            </a:r>
            <a:endParaRPr lang="en-US" sz="1300" dirty="0"/>
          </a:p>
        </p:txBody>
      </p:sp>
      <p:sp>
        <p:nvSpPr>
          <p:cNvPr id="12" name="Text 8"/>
          <p:cNvSpPr/>
          <p:nvPr/>
        </p:nvSpPr>
        <p:spPr>
          <a:xfrm>
            <a:off x="812800" y="6238239"/>
            <a:ext cx="26162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B"/>
                </a:solidFill>
                <a:latin typeface="Rubik" pitchFamily="34" charset="0"/>
                <a:ea typeface="Rubik" pitchFamily="34" charset="-122"/>
                <a:cs typeface="Rubik"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FA8F5"/>
                </a:solidFill>
                <a:latin typeface="Rubik" pitchFamily="34" charset="0"/>
                <a:ea typeface="Rubik" pitchFamily="34" charset="-122"/>
                <a:cs typeface="Rubik" pitchFamily="34" charset="-120"/>
              </a:rPr>
              <a:t>TULEMUSED</a:t>
            </a:r>
            <a:endParaRPr lang="en-US" sz="1200" dirty="0"/>
          </a:p>
        </p:txBody>
      </p:sp>
      <p:sp>
        <p:nvSpPr>
          <p:cNvPr id="3" name="Text 1"/>
          <p:cNvSpPr/>
          <p:nvPr>
            <p:ph type="title"/>
          </p:nvPr>
        </p:nvSpPr>
        <p:spPr>
          <a:xfrm>
            <a:off x="812800" y="1102361"/>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5F1"/>
                </a:solidFill>
                <a:latin typeface="Rubik" pitchFamily="34" charset="0"/>
                <a:ea typeface="Rubik" pitchFamily="34" charset="-122"/>
                <a:cs typeface="Rubik" pitchFamily="34" charset="-120"/>
              </a:rPr>
              <a:t>Testimine numbrites</a:t>
            </a:r>
            <a:endParaRPr lang="en-US" sz="3200" dirty="0"/>
          </a:p>
        </p:txBody>
      </p:sp>
      <p:sp>
        <p:nvSpPr>
          <p:cNvPr id="4" name="Shape 2"/>
          <p:cNvSpPr/>
          <p:nvPr/>
        </p:nvSpPr>
        <p:spPr>
          <a:xfrm>
            <a:off x="812800" y="1988821"/>
            <a:ext cx="3386667" cy="0"/>
          </a:xfrm>
          <a:prstGeom prst="line">
            <a:avLst/>
          </a:prstGeom>
          <a:noFill/>
          <a:ln w="25400">
            <a:solidFill>
              <a:srgbClr val="8FA8F5"/>
            </a:solidFill>
            <a:prstDash val="solid"/>
          </a:ln>
        </p:spPr>
      </p:sp>
      <p:sp>
        <p:nvSpPr>
          <p:cNvPr id="5" name="Text 3"/>
          <p:cNvSpPr/>
          <p:nvPr/>
        </p:nvSpPr>
        <p:spPr>
          <a:xfrm>
            <a:off x="812800" y="2204721"/>
            <a:ext cx="3488267" cy="1041400"/>
          </a:xfrm>
          <a:prstGeom prst="rect">
            <a:avLst/>
          </a:prstGeom>
          <a:noFill/>
          <a:ln/>
        </p:spPr>
        <p:txBody>
          <a:bodyPr wrap="square" lIns="0" tIns="0" rIns="0" bIns="0" rtlCol="0" anchor="t">
            <a:normAutofit/>
          </a:bodyPr>
          <a:lstStyle/>
          <a:p>
            <a:pPr algn="l" indent="0" marL="0">
              <a:lnSpc>
                <a:spcPts val="8000"/>
              </a:lnSpc>
              <a:buNone/>
            </a:pPr>
            <a:r>
              <a:rPr lang="en-US" sz="8000" b="1" dirty="0">
                <a:solidFill>
                  <a:srgbClr val="F6F5F1"/>
                </a:solidFill>
                <a:latin typeface="Rubik" pitchFamily="34" charset="0"/>
                <a:ea typeface="Rubik" pitchFamily="34" charset="-122"/>
                <a:cs typeface="Rubik" pitchFamily="34" charset="-120"/>
              </a:rPr>
              <a:t>27</a:t>
            </a:r>
            <a:endParaRPr lang="en-US" sz="8000" dirty="0"/>
          </a:p>
        </p:txBody>
      </p:sp>
      <p:sp>
        <p:nvSpPr>
          <p:cNvPr id="6" name="Text 4"/>
          <p:cNvSpPr/>
          <p:nvPr/>
        </p:nvSpPr>
        <p:spPr>
          <a:xfrm>
            <a:off x="812800" y="3322321"/>
            <a:ext cx="348826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5F1"/>
                </a:solidFill>
                <a:latin typeface="Rubik" pitchFamily="34" charset="0"/>
                <a:ea typeface="Rubik" pitchFamily="34" charset="-122"/>
                <a:cs typeface="Rubik" pitchFamily="34" charset="-120"/>
              </a:rPr>
              <a:t>testjuhtumit</a:t>
            </a:r>
            <a:endParaRPr lang="en-US" sz="2000" dirty="0"/>
          </a:p>
        </p:txBody>
      </p:sp>
      <p:sp>
        <p:nvSpPr>
          <p:cNvPr id="7" name="Text 5"/>
          <p:cNvSpPr/>
          <p:nvPr/>
        </p:nvSpPr>
        <p:spPr>
          <a:xfrm>
            <a:off x="812800" y="3728721"/>
            <a:ext cx="3488267"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3EA"/>
                </a:solidFill>
                <a:latin typeface="Rubik" pitchFamily="34" charset="0"/>
                <a:ea typeface="Rubik" pitchFamily="34" charset="-122"/>
                <a:cs typeface="Rubik" pitchFamily="34" charset="-120"/>
              </a:rPr>
              <a:t>21 OK · 4 osaline · 2 viga</a:t>
            </a:r>
            <a:endParaRPr lang="en-US" sz="1500" dirty="0"/>
          </a:p>
        </p:txBody>
      </p:sp>
      <p:sp>
        <p:nvSpPr>
          <p:cNvPr id="8" name="Shape 6"/>
          <p:cNvSpPr/>
          <p:nvPr/>
        </p:nvSpPr>
        <p:spPr>
          <a:xfrm>
            <a:off x="4402667" y="1988821"/>
            <a:ext cx="3386667" cy="0"/>
          </a:xfrm>
          <a:prstGeom prst="line">
            <a:avLst/>
          </a:prstGeom>
          <a:noFill/>
          <a:ln w="25400">
            <a:solidFill>
              <a:srgbClr val="F2A65A"/>
            </a:solidFill>
            <a:prstDash val="solid"/>
          </a:ln>
        </p:spPr>
      </p:sp>
      <p:sp>
        <p:nvSpPr>
          <p:cNvPr id="9" name="Text 7"/>
          <p:cNvSpPr/>
          <p:nvPr/>
        </p:nvSpPr>
        <p:spPr>
          <a:xfrm>
            <a:off x="4402667" y="2204721"/>
            <a:ext cx="3488267" cy="1041400"/>
          </a:xfrm>
          <a:prstGeom prst="rect">
            <a:avLst/>
          </a:prstGeom>
          <a:noFill/>
          <a:ln/>
        </p:spPr>
        <p:txBody>
          <a:bodyPr wrap="square" lIns="0" tIns="0" rIns="0" bIns="0" rtlCol="0" anchor="t">
            <a:normAutofit/>
          </a:bodyPr>
          <a:lstStyle/>
          <a:p>
            <a:pPr algn="l" indent="0" marL="0">
              <a:lnSpc>
                <a:spcPts val="8000"/>
              </a:lnSpc>
              <a:buNone/>
            </a:pPr>
            <a:r>
              <a:rPr lang="en-US" sz="8000" b="1" dirty="0">
                <a:solidFill>
                  <a:srgbClr val="F6F5F1"/>
                </a:solidFill>
                <a:latin typeface="Rubik" pitchFamily="34" charset="0"/>
                <a:ea typeface="Rubik" pitchFamily="34" charset="-122"/>
                <a:cs typeface="Rubik" pitchFamily="34" charset="-120"/>
              </a:rPr>
              <a:t>10</a:t>
            </a:r>
            <a:endParaRPr lang="en-US" sz="8000" dirty="0"/>
          </a:p>
        </p:txBody>
      </p:sp>
      <p:sp>
        <p:nvSpPr>
          <p:cNvPr id="10" name="Text 8"/>
          <p:cNvSpPr/>
          <p:nvPr/>
        </p:nvSpPr>
        <p:spPr>
          <a:xfrm>
            <a:off x="4402667" y="3322321"/>
            <a:ext cx="348826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5F1"/>
                </a:solidFill>
                <a:latin typeface="Rubik" pitchFamily="34" charset="0"/>
                <a:ea typeface="Rubik" pitchFamily="34" charset="-122"/>
                <a:cs typeface="Rubik" pitchFamily="34" charset="-120"/>
              </a:rPr>
              <a:t>leitud viga</a:t>
            </a:r>
            <a:endParaRPr lang="en-US" sz="2000" dirty="0"/>
          </a:p>
        </p:txBody>
      </p:sp>
      <p:sp>
        <p:nvSpPr>
          <p:cNvPr id="11" name="Text 9"/>
          <p:cNvSpPr/>
          <p:nvPr/>
        </p:nvSpPr>
        <p:spPr>
          <a:xfrm>
            <a:off x="4402667" y="3728721"/>
            <a:ext cx="3488267"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3EA"/>
                </a:solidFill>
                <a:latin typeface="Rubik" pitchFamily="34" charset="0"/>
                <a:ea typeface="Rubik" pitchFamily="34" charset="-122"/>
                <a:cs typeface="Rubik" pitchFamily="34" charset="-120"/>
              </a:rPr>
              <a:t>3 keskmist · 7 madalat · 0 kriitilist</a:t>
            </a:r>
            <a:endParaRPr lang="en-US" sz="1500" dirty="0"/>
          </a:p>
        </p:txBody>
      </p:sp>
      <p:sp>
        <p:nvSpPr>
          <p:cNvPr id="12" name="Shape 10"/>
          <p:cNvSpPr/>
          <p:nvPr/>
        </p:nvSpPr>
        <p:spPr>
          <a:xfrm>
            <a:off x="7992533" y="1988821"/>
            <a:ext cx="3386667" cy="0"/>
          </a:xfrm>
          <a:prstGeom prst="line">
            <a:avLst/>
          </a:prstGeom>
          <a:noFill/>
          <a:ln w="25400">
            <a:solidFill>
              <a:srgbClr val="8FD3A5"/>
            </a:solidFill>
            <a:prstDash val="solid"/>
          </a:ln>
        </p:spPr>
      </p:sp>
      <p:sp>
        <p:nvSpPr>
          <p:cNvPr id="13" name="Text 11"/>
          <p:cNvSpPr/>
          <p:nvPr/>
        </p:nvSpPr>
        <p:spPr>
          <a:xfrm>
            <a:off x="7992533" y="2204721"/>
            <a:ext cx="3488267" cy="1041400"/>
          </a:xfrm>
          <a:prstGeom prst="rect">
            <a:avLst/>
          </a:prstGeom>
          <a:noFill/>
          <a:ln/>
        </p:spPr>
        <p:txBody>
          <a:bodyPr wrap="square" lIns="0" tIns="0" rIns="0" bIns="0" rtlCol="0" anchor="t">
            <a:normAutofit/>
          </a:bodyPr>
          <a:lstStyle/>
          <a:p>
            <a:pPr algn="l" indent="0" marL="0">
              <a:lnSpc>
                <a:spcPts val="8000"/>
              </a:lnSpc>
              <a:buNone/>
            </a:pPr>
            <a:r>
              <a:rPr lang="en-US" sz="8000" b="1" dirty="0">
                <a:solidFill>
                  <a:srgbClr val="F6F5F1"/>
                </a:solidFill>
                <a:latin typeface="Rubik" pitchFamily="34" charset="0"/>
                <a:ea typeface="Rubik" pitchFamily="34" charset="-122"/>
                <a:cs typeface="Rubik" pitchFamily="34" charset="-120"/>
              </a:rPr>
              <a:t>86</a:t>
            </a:r>
            <a:endParaRPr lang="en-US" sz="8000" dirty="0"/>
          </a:p>
        </p:txBody>
      </p:sp>
      <p:sp>
        <p:nvSpPr>
          <p:cNvPr id="14" name="Text 12"/>
          <p:cNvSpPr/>
          <p:nvPr/>
        </p:nvSpPr>
        <p:spPr>
          <a:xfrm>
            <a:off x="7992533" y="3322321"/>
            <a:ext cx="348826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5F1"/>
                </a:solidFill>
                <a:latin typeface="Rubik" pitchFamily="34" charset="0"/>
                <a:ea typeface="Rubik" pitchFamily="34" charset="-122"/>
                <a:cs typeface="Rubik" pitchFamily="34" charset="-120"/>
              </a:rPr>
              <a:t>automaattesti läbitud</a:t>
            </a:r>
            <a:endParaRPr lang="en-US" sz="2000" dirty="0"/>
          </a:p>
        </p:txBody>
      </p:sp>
      <p:sp>
        <p:nvSpPr>
          <p:cNvPr id="15" name="Text 13"/>
          <p:cNvSpPr/>
          <p:nvPr/>
        </p:nvSpPr>
        <p:spPr>
          <a:xfrm>
            <a:off x="7992533" y="3728721"/>
            <a:ext cx="3488267"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3EA"/>
                </a:solidFill>
                <a:latin typeface="Rubik" pitchFamily="34" charset="0"/>
                <a:ea typeface="Rubik" pitchFamily="34" charset="-122"/>
                <a:cs typeface="Rubik" pitchFamily="34" charset="-120"/>
              </a:rPr>
              <a:t>82 autori testi + 4 minu testi</a:t>
            </a:r>
            <a:endParaRPr lang="en-US" sz="1500" dirty="0"/>
          </a:p>
        </p:txBody>
      </p:sp>
      <p:sp>
        <p:nvSpPr>
          <p:cNvPr id="16" name="Text 14"/>
          <p:cNvSpPr/>
          <p:nvPr/>
        </p:nvSpPr>
        <p:spPr>
          <a:xfrm>
            <a:off x="812800" y="6238239"/>
            <a:ext cx="26162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F5"/>
                </a:solidFill>
                <a:latin typeface="Rubik" pitchFamily="34" charset="0"/>
                <a:ea typeface="Rubik" pitchFamily="34" charset="-122"/>
                <a:cs typeface="Rubik"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C2410C"/>
                </a:solidFill>
                <a:latin typeface="Rubik" pitchFamily="34" charset="0"/>
                <a:ea typeface="Rubik" pitchFamily="34" charset="-122"/>
                <a:cs typeface="Rubik" pitchFamily="34" charset="-120"/>
              </a:rPr>
              <a:t>LEITUD VEAD</a:t>
            </a:r>
            <a:endParaRPr lang="en-US" sz="1200" dirty="0"/>
          </a:p>
        </p:txBody>
      </p:sp>
      <p:sp>
        <p:nvSpPr>
          <p:cNvPr id="3" name="Text 1"/>
          <p:cNvSpPr/>
          <p:nvPr>
            <p:ph type="title"/>
          </p:nvPr>
        </p:nvSpPr>
        <p:spPr>
          <a:xfrm>
            <a:off x="812800" y="1102361"/>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Rubik" pitchFamily="34" charset="0"/>
                <a:ea typeface="Rubik" pitchFamily="34" charset="-122"/>
                <a:cs typeface="Rubik" pitchFamily="34" charset="-120"/>
              </a:rPr>
              <a:t>Kaks peamist viga</a:t>
            </a:r>
            <a:endParaRPr lang="en-US" sz="3200" dirty="0"/>
          </a:p>
        </p:txBody>
      </p:sp>
      <p:sp>
        <p:nvSpPr>
          <p:cNvPr id="4" name="Text 2"/>
          <p:cNvSpPr/>
          <p:nvPr/>
        </p:nvSpPr>
        <p:spPr>
          <a:xfrm>
            <a:off x="812800" y="1874521"/>
            <a:ext cx="1615863" cy="350520"/>
          </a:xfrm>
          <a:prstGeom prst="roundRect">
            <a:avLst>
              <a:gd name="adj" fmla="val 50000"/>
            </a:avLst>
          </a:prstGeom>
          <a:solidFill>
            <a:srgbClr val="F8D9D4"/>
          </a:solidFill>
          <a:ln/>
        </p:spPr>
        <p:txBody>
          <a:bodyPr wrap="none" lIns="0" tIns="0" rIns="0" bIns="0" rtlCol="0" anchor="ctr">
            <a:normAutofit/>
          </a:bodyPr>
          <a:lstStyle/>
          <a:p>
            <a:pPr algn="ctr" indent="0" marL="0">
              <a:lnSpc>
                <a:spcPts val="1960"/>
              </a:lnSpc>
              <a:buNone/>
            </a:pPr>
            <a:r>
              <a:rPr lang="en-US" sz="1400" b="1" dirty="0">
                <a:solidFill>
                  <a:srgbClr val="8A2416"/>
                </a:solidFill>
                <a:latin typeface="Rubik" pitchFamily="34" charset="0"/>
                <a:ea typeface="Rubik" pitchFamily="34" charset="-122"/>
                <a:cs typeface="Rubik" pitchFamily="34" charset="-120"/>
              </a:rPr>
              <a:t>V-02</a:t>
            </a:r>
            <a:r>
              <a:rPr lang="en-US" sz="1400" dirty="0">
                <a:solidFill>
                  <a:srgbClr val="8A2416"/>
                </a:solidFill>
                <a:latin typeface="Rubik" pitchFamily="34" charset="0"/>
                <a:ea typeface="Rubik" pitchFamily="34" charset="-122"/>
                <a:cs typeface="Rubik" pitchFamily="34" charset="-120"/>
              </a:rPr>
              <a:t> · keskmine</a:t>
            </a:r>
            <a:endParaRPr lang="en-US" sz="1400" dirty="0"/>
          </a:p>
        </p:txBody>
      </p:sp>
      <p:sp>
        <p:nvSpPr>
          <p:cNvPr id="5" name="Text 3"/>
          <p:cNvSpPr/>
          <p:nvPr/>
        </p:nvSpPr>
        <p:spPr>
          <a:xfrm>
            <a:off x="812800" y="2352039"/>
            <a:ext cx="716838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Rubik" pitchFamily="34" charset="0"/>
                <a:ea typeface="Rubik" pitchFamily="34" charset="-122"/>
                <a:cs typeface="Rubik" pitchFamily="34" charset="-120"/>
              </a:rPr>
              <a:t>Kirjet ei saa muuta</a:t>
            </a:r>
            <a:endParaRPr lang="en-US" sz="2000" dirty="0"/>
          </a:p>
        </p:txBody>
      </p:sp>
      <p:sp>
        <p:nvSpPr>
          <p:cNvPr id="6" name="Text 4"/>
          <p:cNvSpPr/>
          <p:nvPr/>
        </p:nvSpPr>
        <p:spPr>
          <a:xfrm>
            <a:off x="812800" y="2783839"/>
            <a:ext cx="7168388"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Rubik" pitchFamily="34" charset="0"/>
                <a:ea typeface="Rubik" pitchFamily="34" charset="-122"/>
                <a:cs typeface="Rubik" pitchFamily="34" charset="-120"/>
              </a:rPr>
              <a:t>Detailvaates on ainult nupp „Kustuta“. API-s on muutmine olemas, aga kasutajaliideses mitte.</a:t>
            </a:r>
            <a:endParaRPr lang="en-US" sz="1400" dirty="0"/>
          </a:p>
        </p:txBody>
      </p:sp>
      <p:sp>
        <p:nvSpPr>
          <p:cNvPr id="7" name="Shape 5"/>
          <p:cNvSpPr/>
          <p:nvPr/>
        </p:nvSpPr>
        <p:spPr>
          <a:xfrm>
            <a:off x="812800" y="3408679"/>
            <a:ext cx="6350000" cy="1301750"/>
          </a:xfrm>
          <a:prstGeom prst="roundRect">
            <a:avLst>
              <a:gd name="adj" fmla="val 5854"/>
            </a:avLst>
          </a:prstGeom>
          <a:solidFill>
            <a:srgbClr val="FFFFFF"/>
          </a:solidFill>
          <a:ln/>
        </p:spPr>
      </p:sp>
      <p:pic>
        <p:nvPicPr>
          <p:cNvPr id="8" name="Image 0" descr="Detailvaade, kus on ainult nupp Kustuta">    </p:cNvPr>
          <p:cNvPicPr>
            <a:picLocks noChangeAspect="1"/>
          </p:cNvPicPr>
          <p:nvPr/>
        </p:nvPicPr>
        <p:blipFill>
          <a:blip r:embed="rId1"/>
          <a:srcRect l="-321" r="-321" t="0" b="0"/>
          <a:stretch/>
        </p:blipFill>
        <p:spPr>
          <a:xfrm>
            <a:off x="819150" y="3415029"/>
            <a:ext cx="6337300" cy="1289050"/>
          </a:xfrm>
          <a:prstGeom prst="roundRect">
            <a:avLst>
              <a:gd name="adj" fmla="val 5419"/>
            </a:avLst>
          </a:prstGeom>
        </p:spPr>
      </p:pic>
      <p:sp>
        <p:nvSpPr>
          <p:cNvPr id="9" name="Shape 6"/>
          <p:cNvSpPr/>
          <p:nvPr/>
        </p:nvSpPr>
        <p:spPr>
          <a:xfrm>
            <a:off x="815975" y="3411854"/>
            <a:ext cx="6343650" cy="1295400"/>
          </a:xfrm>
          <a:prstGeom prst="roundRect">
            <a:avLst>
              <a:gd name="adj" fmla="val 5637"/>
            </a:avLst>
          </a:prstGeom>
          <a:noFill/>
          <a:ln w="6350">
            <a:solidFill>
              <a:srgbClr val="E2E4EA"/>
            </a:solidFill>
            <a:prstDash val="solid"/>
          </a:ln>
        </p:spPr>
      </p:sp>
      <p:sp>
        <p:nvSpPr>
          <p:cNvPr id="10" name="Text 7"/>
          <p:cNvSpPr/>
          <p:nvPr/>
        </p:nvSpPr>
        <p:spPr>
          <a:xfrm>
            <a:off x="8077200" y="1874521"/>
            <a:ext cx="1617451" cy="350520"/>
          </a:xfrm>
          <a:prstGeom prst="roundRect">
            <a:avLst>
              <a:gd name="adj" fmla="val 50000"/>
            </a:avLst>
          </a:prstGeom>
          <a:solidFill>
            <a:srgbClr val="F8D9D4"/>
          </a:solidFill>
          <a:ln/>
        </p:spPr>
        <p:txBody>
          <a:bodyPr wrap="none" lIns="0" tIns="0" rIns="0" bIns="0" rtlCol="0" anchor="ctr">
            <a:normAutofit/>
          </a:bodyPr>
          <a:lstStyle/>
          <a:p>
            <a:pPr algn="ctr" indent="0" marL="0">
              <a:lnSpc>
                <a:spcPts val="1960"/>
              </a:lnSpc>
              <a:buNone/>
            </a:pPr>
            <a:r>
              <a:rPr lang="en-US" sz="1400" b="1" dirty="0">
                <a:solidFill>
                  <a:srgbClr val="8A2416"/>
                </a:solidFill>
                <a:latin typeface="Rubik" pitchFamily="34" charset="0"/>
                <a:ea typeface="Rubik" pitchFamily="34" charset="-122"/>
                <a:cs typeface="Rubik" pitchFamily="34" charset="-120"/>
              </a:rPr>
              <a:t>V-03</a:t>
            </a:r>
            <a:r>
              <a:rPr lang="en-US" sz="1400" dirty="0">
                <a:solidFill>
                  <a:srgbClr val="8A2416"/>
                </a:solidFill>
                <a:latin typeface="Rubik" pitchFamily="34" charset="0"/>
                <a:ea typeface="Rubik" pitchFamily="34" charset="-122"/>
                <a:cs typeface="Rubik" pitchFamily="34" charset="-120"/>
              </a:rPr>
              <a:t> · keskmine</a:t>
            </a:r>
            <a:endParaRPr lang="en-US" sz="1400" dirty="0"/>
          </a:p>
        </p:txBody>
      </p:sp>
      <p:sp>
        <p:nvSpPr>
          <p:cNvPr id="11" name="Text 8"/>
          <p:cNvSpPr/>
          <p:nvPr/>
        </p:nvSpPr>
        <p:spPr>
          <a:xfrm>
            <a:off x="8077200" y="2352039"/>
            <a:ext cx="340106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Rubik" pitchFamily="34" charset="0"/>
                <a:ea typeface="Rubik" pitchFamily="34" charset="-122"/>
                <a:cs typeface="Rubik" pitchFamily="34" charset="-120"/>
              </a:rPr>
              <a:t>Topeltkirjed</a:t>
            </a:r>
            <a:endParaRPr lang="en-US" sz="2000" dirty="0"/>
          </a:p>
        </p:txBody>
      </p:sp>
      <p:sp>
        <p:nvSpPr>
          <p:cNvPr id="12" name="Text 9"/>
          <p:cNvSpPr/>
          <p:nvPr/>
        </p:nvSpPr>
        <p:spPr>
          <a:xfrm>
            <a:off x="8077200" y="2783839"/>
            <a:ext cx="3401060"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Rubik" pitchFamily="34" charset="0"/>
                <a:ea typeface="Rubik" pitchFamily="34" charset="-122"/>
                <a:cs typeface="Rubik" pitchFamily="34" charset="-120"/>
              </a:rPr>
              <a:t>Topeltklõps nupul „Salvesta“ loob mitu ühesugust kirjet.</a:t>
            </a:r>
            <a:endParaRPr lang="en-US" sz="1400" dirty="0"/>
          </a:p>
        </p:txBody>
      </p:sp>
      <p:sp>
        <p:nvSpPr>
          <p:cNvPr id="13" name="Shape 10"/>
          <p:cNvSpPr/>
          <p:nvPr/>
        </p:nvSpPr>
        <p:spPr>
          <a:xfrm>
            <a:off x="8077200" y="3408679"/>
            <a:ext cx="1651000" cy="2222500"/>
          </a:xfrm>
          <a:prstGeom prst="roundRect">
            <a:avLst>
              <a:gd name="adj" fmla="val 4615"/>
            </a:avLst>
          </a:prstGeom>
          <a:solidFill>
            <a:srgbClr val="FFFFFF"/>
          </a:solidFill>
          <a:ln/>
        </p:spPr>
      </p:sp>
      <p:pic>
        <p:nvPicPr>
          <p:cNvPr id="14" name="Image 1" descr="Mitu ühesugust kirjet f(x) = 0">    </p:cNvPr>
          <p:cNvPicPr>
            <a:picLocks noChangeAspect="1"/>
          </p:cNvPicPr>
          <p:nvPr/>
        </p:nvPicPr>
        <p:blipFill>
          <a:blip r:embed="rId2"/>
          <a:srcRect l="0" r="0" t="-114" b="-114"/>
          <a:stretch/>
        </p:blipFill>
        <p:spPr>
          <a:xfrm>
            <a:off x="8083550" y="3415029"/>
            <a:ext cx="1638300" cy="2209800"/>
          </a:xfrm>
          <a:prstGeom prst="roundRect">
            <a:avLst>
              <a:gd name="adj" fmla="val 4264"/>
            </a:avLst>
          </a:prstGeom>
        </p:spPr>
      </p:pic>
      <p:sp>
        <p:nvSpPr>
          <p:cNvPr id="15" name="Shape 11"/>
          <p:cNvSpPr/>
          <p:nvPr/>
        </p:nvSpPr>
        <p:spPr>
          <a:xfrm>
            <a:off x="8080375" y="3411854"/>
            <a:ext cx="1644650" cy="2216150"/>
          </a:xfrm>
          <a:prstGeom prst="roundRect">
            <a:avLst>
              <a:gd name="adj" fmla="val 4440"/>
            </a:avLst>
          </a:prstGeom>
          <a:noFill/>
          <a:ln w="6350">
            <a:solidFill>
              <a:srgbClr val="E2E4EA"/>
            </a:solidFill>
            <a:prstDash val="solid"/>
          </a:ln>
        </p:spPr>
      </p:sp>
      <p:sp>
        <p:nvSpPr>
          <p:cNvPr id="16" name="Text 12"/>
          <p:cNvSpPr/>
          <p:nvPr/>
        </p:nvSpPr>
        <p:spPr>
          <a:xfrm>
            <a:off x="812800" y="6238239"/>
            <a:ext cx="26162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B"/>
                </a:solidFill>
                <a:latin typeface="Rubik" pitchFamily="34" charset="0"/>
                <a:ea typeface="Rubik" pitchFamily="34" charset="-122"/>
                <a:cs typeface="Rubik"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C2410C"/>
                </a:solidFill>
                <a:latin typeface="Rubik" pitchFamily="34" charset="0"/>
                <a:ea typeface="Rubik" pitchFamily="34" charset="-122"/>
                <a:cs typeface="Rubik" pitchFamily="34" charset="-120"/>
              </a:rPr>
              <a:t>LEITUD VEAD</a:t>
            </a:r>
            <a:endParaRPr lang="en-US" sz="1200" dirty="0"/>
          </a:p>
        </p:txBody>
      </p:sp>
      <p:sp>
        <p:nvSpPr>
          <p:cNvPr id="3" name="Text 1"/>
          <p:cNvSpPr/>
          <p:nvPr>
            <p:ph type="title"/>
          </p:nvPr>
        </p:nvSpPr>
        <p:spPr>
          <a:xfrm>
            <a:off x="812800" y="1102361"/>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Rubik" pitchFamily="34" charset="0"/>
                <a:ea typeface="Rubik" pitchFamily="34" charset="-122"/>
                <a:cs typeface="Rubik" pitchFamily="34" charset="-120"/>
              </a:rPr>
              <a:t>Ülejäänud vead</a:t>
            </a:r>
            <a:endParaRPr lang="en-US" sz="3200" dirty="0"/>
          </a:p>
        </p:txBody>
      </p:sp>
      <p:sp>
        <p:nvSpPr>
          <p:cNvPr id="4" name="Shape 2"/>
          <p:cNvSpPr/>
          <p:nvPr/>
        </p:nvSpPr>
        <p:spPr>
          <a:xfrm>
            <a:off x="812800" y="1823721"/>
            <a:ext cx="6604000" cy="3247390"/>
          </a:xfrm>
          <a:prstGeom prst="rect">
            <a:avLst/>
          </a:prstGeom>
          <a:solidFill>
            <a:srgbClr val="FFFFF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836421"/>
          <a:ext cx="6591300" cy="3234690"/>
        </p:xfrm>
        <a:graphic>
          <a:graphicData uri="http://schemas.openxmlformats.org/drawingml/2006/table">
            <a:tbl>
              <a:tblPr/>
              <a:tblGrid>
                <a:gridCol w="922782"/>
                <a:gridCol w="4218432"/>
                <a:gridCol w="1450086"/>
              </a:tblGrid>
              <a:tr h="359410">
                <a:tc>
                  <a:txBody>
                    <a:bodyPr/>
                    <a:lstStyle/>
                    <a:p>
                      <a:pPr indent="0" marL="0">
                        <a:lnSpc>
                          <a:spcPts val="1820"/>
                        </a:lnSpc>
                        <a:buNone/>
                      </a:pPr>
                      <a:r>
                        <a:rPr lang="en-US" sz="1300" b="1" dirty="0">
                          <a:solidFill>
                            <a:srgbClr val="14213D"/>
                          </a:solidFill>
                          <a:latin typeface="Rubik" pitchFamily="34" charset="0"/>
                          <a:ea typeface="Rubik" pitchFamily="34" charset="-122"/>
                          <a:cs typeface="Rubik" pitchFamily="34" charset="-120"/>
                        </a:rPr>
                        <a:t>ID</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Rubik" pitchFamily="34" charset="0"/>
                          <a:ea typeface="Rubik" pitchFamily="34" charset="-122"/>
                          <a:cs typeface="Rubik" pitchFamily="34" charset="-120"/>
                        </a:rPr>
                        <a:t>Viga</a:t>
                      </a:r>
                      <a:endParaRPr lang="en-US" sz="1300" dirty="0">
                        <a:latin typeface="Rubik" charset="0"/>
                        <a:ea typeface="Rubik" charset="0"/>
                        <a:cs typeface="Rubik"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Rubik" pitchFamily="34" charset="0"/>
                          <a:ea typeface="Rubik" pitchFamily="34" charset="-122"/>
                          <a:cs typeface="Rubik" pitchFamily="34" charset="-120"/>
                        </a:rPr>
                        <a:t>Tõsidus</a:t>
                      </a:r>
                      <a:endParaRPr lang="en-US" sz="1300" dirty="0">
                        <a:latin typeface="Rubik" charset="0"/>
                        <a:ea typeface="Rubik" charset="0"/>
                        <a:cs typeface="Rubik"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59410">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V-01</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Ei käivitu SDK 10.0.100-ga</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Keskmine</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410">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V-04</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Detailvaatest ei saa tagasi nimekirja</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Madal</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410">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V-05</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Arvud inglise vormingus: „4,000“</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Madal</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410">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V-06</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Kohustuslik väli tähistamata</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Madal</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410">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V-07</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Telefonis murdub „(-∞; 0)“ kahele reale</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Madal</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410">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V-08</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Serveri veal tehniline teade „502“</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Madal</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410">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V-09</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Vahemiku veal kaks teadet korraga</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Madal</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410">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V-10</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Kirjaviga koodis: LuodudAeg</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Rubik" pitchFamily="34" charset="0"/>
                          <a:ea typeface="Rubik" pitchFamily="34" charset="-122"/>
                          <a:cs typeface="Rubik" pitchFamily="34" charset="-120"/>
                        </a:rPr>
                        <a:t>Madal</a:t>
                      </a:r>
                      <a:endParaRPr lang="en-US" sz="1300" dirty="0">
                        <a:latin typeface="Rubik" charset="0"/>
                        <a:ea typeface="Rubik" charset="0"/>
                        <a:cs typeface="Rubik"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Shape 3"/>
          <p:cNvSpPr/>
          <p:nvPr/>
        </p:nvSpPr>
        <p:spPr>
          <a:xfrm>
            <a:off x="7721600" y="1823721"/>
            <a:ext cx="3657600" cy="2266950"/>
          </a:xfrm>
          <a:prstGeom prst="roundRect">
            <a:avLst>
              <a:gd name="adj" fmla="val 3361"/>
            </a:avLst>
          </a:prstGeom>
          <a:solidFill>
            <a:srgbClr val="FFFFFF"/>
          </a:solidFill>
          <a:ln/>
        </p:spPr>
      </p:sp>
      <p:pic>
        <p:nvPicPr>
          <p:cNvPr id="7" name="Image 0" descr="Funktsiooni x⁵ graafik, kus telje arvud on kujul 4,000">    </p:cNvPr>
          <p:cNvPicPr>
            <a:picLocks noChangeAspect="1"/>
          </p:cNvPicPr>
          <p:nvPr/>
        </p:nvPicPr>
        <p:blipFill>
          <a:blip r:embed="rId1"/>
          <a:srcRect l="-150" r="-150" t="0" b="0"/>
          <a:stretch/>
        </p:blipFill>
        <p:spPr>
          <a:xfrm>
            <a:off x="7727950" y="1830071"/>
            <a:ext cx="3644900" cy="2254250"/>
          </a:xfrm>
          <a:prstGeom prst="roundRect">
            <a:avLst>
              <a:gd name="adj" fmla="val 3099"/>
            </a:avLst>
          </a:prstGeom>
        </p:spPr>
      </p:pic>
      <p:sp>
        <p:nvSpPr>
          <p:cNvPr id="8" name="Shape 4"/>
          <p:cNvSpPr/>
          <p:nvPr/>
        </p:nvSpPr>
        <p:spPr>
          <a:xfrm>
            <a:off x="7724775" y="1826896"/>
            <a:ext cx="3651250" cy="2260600"/>
          </a:xfrm>
          <a:prstGeom prst="roundRect">
            <a:avLst>
              <a:gd name="adj" fmla="val 3230"/>
            </a:avLst>
          </a:prstGeom>
          <a:noFill/>
          <a:ln w="6350">
            <a:solidFill>
              <a:srgbClr val="E2E4EA"/>
            </a:solidFill>
            <a:prstDash val="solid"/>
          </a:ln>
        </p:spPr>
      </p:sp>
      <p:sp>
        <p:nvSpPr>
          <p:cNvPr id="9" name="Text 5"/>
          <p:cNvSpPr/>
          <p:nvPr/>
        </p:nvSpPr>
        <p:spPr>
          <a:xfrm>
            <a:off x="7721600" y="4192271"/>
            <a:ext cx="3767328"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Rubik" pitchFamily="34" charset="0"/>
                <a:ea typeface="Rubik" pitchFamily="34" charset="-122"/>
                <a:cs typeface="Rubik" pitchFamily="34" charset="-120"/>
              </a:rPr>
              <a:t>Näide V-05: graafikul on „4,000“, eesti keeles peaks olema „4 000“.</a:t>
            </a:r>
            <a:endParaRPr lang="en-US" sz="1300" dirty="0"/>
          </a:p>
        </p:txBody>
      </p:sp>
      <p:sp>
        <p:nvSpPr>
          <p:cNvPr id="10" name="Text 6"/>
          <p:cNvSpPr/>
          <p:nvPr/>
        </p:nvSpPr>
        <p:spPr>
          <a:xfrm>
            <a:off x="812800" y="6238239"/>
            <a:ext cx="26162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B"/>
                </a:solidFill>
                <a:latin typeface="Rubik" pitchFamily="34" charset="0"/>
                <a:ea typeface="Rubik" pitchFamily="34" charset="-122"/>
                <a:cs typeface="Rubik"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1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7A4A"/>
                </a:solidFill>
                <a:latin typeface="Rubik" pitchFamily="34" charset="0"/>
                <a:ea typeface="Rubik" pitchFamily="34" charset="-122"/>
                <a:cs typeface="Rubik" pitchFamily="34" charset="-120"/>
              </a:rPr>
              <a:t>MIS TÖÖTAS</a:t>
            </a:r>
            <a:endParaRPr lang="en-US" sz="1200" dirty="0"/>
          </a:p>
        </p:txBody>
      </p:sp>
      <p:sp>
        <p:nvSpPr>
          <p:cNvPr id="3" name="Text 1"/>
          <p:cNvSpPr/>
          <p:nvPr>
            <p:ph type="title"/>
          </p:nvPr>
        </p:nvSpPr>
        <p:spPr>
          <a:xfrm>
            <a:off x="812800" y="1102361"/>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Rubik" pitchFamily="34" charset="0"/>
                <a:ea typeface="Rubik" pitchFamily="34" charset="-122"/>
                <a:cs typeface="Rubik" pitchFamily="34" charset="-120"/>
              </a:rPr>
              <a:t>Mis töötas hästi</a:t>
            </a:r>
            <a:endParaRPr lang="en-US" sz="3200" dirty="0"/>
          </a:p>
        </p:txBody>
      </p:sp>
      <p:sp>
        <p:nvSpPr>
          <p:cNvPr id="4" name="Text 2"/>
          <p:cNvSpPr/>
          <p:nvPr/>
        </p:nvSpPr>
        <p:spPr>
          <a:xfrm>
            <a:off x="812800" y="1874521"/>
            <a:ext cx="4970780"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Rubik" pitchFamily="34" charset="0"/>
                <a:ea typeface="Rubik" pitchFamily="34" charset="-122"/>
                <a:cs typeface="Rubik" pitchFamily="34" charset="-120"/>
              </a:rPr>
              <a:t>Matemaatika – 4/4 õige</a:t>
            </a:r>
            <a:endParaRPr lang="en-US" sz="1800" dirty="0"/>
          </a:p>
        </p:txBody>
      </p:sp>
      <p:sp>
        <p:nvSpPr>
          <p:cNvPr id="5" name="Text 3"/>
          <p:cNvSpPr/>
          <p:nvPr/>
        </p:nvSpPr>
        <p:spPr>
          <a:xfrm>
            <a:off x="812800" y="2186939"/>
            <a:ext cx="497078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Rubik" pitchFamily="34" charset="0"/>
                <a:ea typeface="Rubik" pitchFamily="34" charset="-122"/>
                <a:cs typeface="Rubik" pitchFamily="34" charset="-120"/>
              </a:rPr>
              <a:t>Arvutasin käsitsi x² − 4x + 3, x³ − 3x, x³ − 12x ja võrdlesin</a:t>
            </a:r>
            <a:endParaRPr lang="en-US" sz="1300" dirty="0"/>
          </a:p>
        </p:txBody>
      </p:sp>
      <p:sp>
        <p:nvSpPr>
          <p:cNvPr id="6" name="Text 4"/>
          <p:cNvSpPr/>
          <p:nvPr/>
        </p:nvSpPr>
        <p:spPr>
          <a:xfrm>
            <a:off x="812800" y="2595879"/>
            <a:ext cx="4970780"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Rubik" pitchFamily="34" charset="0"/>
                <a:ea typeface="Rubik" pitchFamily="34" charset="-122"/>
                <a:cs typeface="Rubik" pitchFamily="34" charset="-120"/>
              </a:rPr>
              <a:t>Valideerimine</a:t>
            </a:r>
            <a:endParaRPr lang="en-US" sz="1800" dirty="0"/>
          </a:p>
        </p:txBody>
      </p:sp>
      <p:sp>
        <p:nvSpPr>
          <p:cNvPr id="7" name="Text 5"/>
          <p:cNvSpPr/>
          <p:nvPr/>
        </p:nvSpPr>
        <p:spPr>
          <a:xfrm>
            <a:off x="812800" y="2908300"/>
            <a:ext cx="4970780"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Rubik" pitchFamily="34" charset="0"/>
                <a:ea typeface="Rubik" pitchFamily="34" charset="-122"/>
                <a:cs typeface="Rubik" pitchFamily="34" charset="-120"/>
              </a:rPr>
              <a:t>Tühi valem, 1000 märki, &lt;script&gt;, x^^2 – kõik lükati tagasi eestikeelse teatega</a:t>
            </a:r>
            <a:endParaRPr lang="en-US" sz="1300" dirty="0"/>
          </a:p>
        </p:txBody>
      </p:sp>
      <p:sp>
        <p:nvSpPr>
          <p:cNvPr id="8" name="Text 6"/>
          <p:cNvSpPr/>
          <p:nvPr/>
        </p:nvSpPr>
        <p:spPr>
          <a:xfrm>
            <a:off x="812800" y="3548379"/>
            <a:ext cx="4970780"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Rubik" pitchFamily="34" charset="0"/>
                <a:ea typeface="Rubik" pitchFamily="34" charset="-122"/>
                <a:cs typeface="Rubik" pitchFamily="34" charset="-120"/>
              </a:rPr>
              <a:t>Graafik</a:t>
            </a:r>
            <a:endParaRPr lang="en-US" sz="1800" dirty="0"/>
          </a:p>
        </p:txBody>
      </p:sp>
      <p:sp>
        <p:nvSpPr>
          <p:cNvPr id="9" name="Text 7"/>
          <p:cNvSpPr/>
          <p:nvPr/>
        </p:nvSpPr>
        <p:spPr>
          <a:xfrm>
            <a:off x="812800" y="3860800"/>
            <a:ext cx="497078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Rubik" pitchFamily="34" charset="0"/>
                <a:ea typeface="Rubik" pitchFamily="34" charset="-122"/>
                <a:cs typeface="Rubik" pitchFamily="34" charset="-120"/>
              </a:rPr>
              <a:t>Tuletis katkendjoonega, legend olemas, asümptoodid õigesti</a:t>
            </a:r>
            <a:endParaRPr lang="en-US" sz="1300" dirty="0"/>
          </a:p>
        </p:txBody>
      </p:sp>
      <p:sp>
        <p:nvSpPr>
          <p:cNvPr id="10" name="Text 8"/>
          <p:cNvSpPr/>
          <p:nvPr/>
        </p:nvSpPr>
        <p:spPr>
          <a:xfrm>
            <a:off x="812800" y="4269742"/>
            <a:ext cx="4970780"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Rubik" pitchFamily="34" charset="0"/>
                <a:ea typeface="Rubik" pitchFamily="34" charset="-122"/>
                <a:cs typeface="Rubik" pitchFamily="34" charset="-120"/>
              </a:rPr>
              <a:t>Boonusülesanne</a:t>
            </a:r>
            <a:endParaRPr lang="en-US" sz="1800" dirty="0"/>
          </a:p>
        </p:txBody>
      </p:sp>
      <p:sp>
        <p:nvSpPr>
          <p:cNvPr id="11" name="Text 9"/>
          <p:cNvSpPr/>
          <p:nvPr/>
        </p:nvSpPr>
        <p:spPr>
          <a:xfrm>
            <a:off x="812800" y="4582158"/>
            <a:ext cx="497078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Rubik" pitchFamily="34" charset="0"/>
                <a:ea typeface="Rubik" pitchFamily="34" charset="-122"/>
                <a:cs typeface="Rubik" pitchFamily="34" charset="-120"/>
              </a:rPr>
              <a:t>Suvalise valemi väärtused õiged, nulliga jagamine käsitletud</a:t>
            </a:r>
            <a:endParaRPr lang="en-US" sz="1300" dirty="0"/>
          </a:p>
        </p:txBody>
      </p:sp>
      <p:sp>
        <p:nvSpPr>
          <p:cNvPr id="12" name="Shape 10"/>
          <p:cNvSpPr/>
          <p:nvPr/>
        </p:nvSpPr>
        <p:spPr>
          <a:xfrm>
            <a:off x="5943600" y="1874521"/>
            <a:ext cx="5435600" cy="3282950"/>
          </a:xfrm>
          <a:prstGeom prst="roundRect">
            <a:avLst>
              <a:gd name="adj" fmla="val 2321"/>
            </a:avLst>
          </a:prstGeom>
          <a:solidFill>
            <a:srgbClr val="FFFFFF"/>
          </a:solidFill>
          <a:ln/>
        </p:spPr>
      </p:sp>
      <p:pic>
        <p:nvPicPr>
          <p:cNvPr id="13" name="Image 0" descr="Funktsiooni x³ − 3x graafik koos tuletisega katkendjoonena">    </p:cNvPr>
          <p:cNvPicPr>
            <a:picLocks noChangeAspect="1"/>
          </p:cNvPicPr>
          <p:nvPr/>
        </p:nvPicPr>
        <p:blipFill>
          <a:blip r:embed="rId1"/>
          <a:srcRect l="-49" r="-49" t="0" b="0"/>
          <a:stretch/>
        </p:blipFill>
        <p:spPr>
          <a:xfrm>
            <a:off x="5949950" y="1880871"/>
            <a:ext cx="5422900" cy="3270250"/>
          </a:xfrm>
          <a:prstGeom prst="roundRect">
            <a:avLst>
              <a:gd name="adj" fmla="val 2136"/>
            </a:avLst>
          </a:prstGeom>
        </p:spPr>
      </p:pic>
      <p:sp>
        <p:nvSpPr>
          <p:cNvPr id="14" name="Shape 11"/>
          <p:cNvSpPr/>
          <p:nvPr/>
        </p:nvSpPr>
        <p:spPr>
          <a:xfrm>
            <a:off x="5946775" y="1877696"/>
            <a:ext cx="5429250" cy="3276600"/>
          </a:xfrm>
          <a:prstGeom prst="roundRect">
            <a:avLst>
              <a:gd name="adj" fmla="val 2229"/>
            </a:avLst>
          </a:prstGeom>
          <a:noFill/>
          <a:ln w="6350">
            <a:solidFill>
              <a:srgbClr val="DCE1EC"/>
            </a:solidFill>
            <a:prstDash val="solid"/>
          </a:ln>
        </p:spPr>
      </p:sp>
      <p:sp>
        <p:nvSpPr>
          <p:cNvPr id="15" name="Text 12"/>
          <p:cNvSpPr/>
          <p:nvPr/>
        </p:nvSpPr>
        <p:spPr>
          <a:xfrm>
            <a:off x="812800" y="6238242"/>
            <a:ext cx="26162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B"/>
                </a:solidFill>
                <a:latin typeface="Rubik" pitchFamily="34" charset="0"/>
                <a:ea typeface="Rubik" pitchFamily="34" charset="-122"/>
                <a:cs typeface="Rubik"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3B5BDB"/>
                </a:solidFill>
                <a:latin typeface="Rubik" pitchFamily="34" charset="0"/>
                <a:ea typeface="Rubik" pitchFamily="34" charset="-122"/>
                <a:cs typeface="Rubik" pitchFamily="34" charset="-120"/>
              </a:rPr>
              <a:t>AUTOMAATTESTID</a:t>
            </a:r>
            <a:endParaRPr lang="en-US" sz="1200" dirty="0"/>
          </a:p>
        </p:txBody>
      </p:sp>
      <p:sp>
        <p:nvSpPr>
          <p:cNvPr id="3" name="Text 1"/>
          <p:cNvSpPr/>
          <p:nvPr>
            <p:ph type="title"/>
          </p:nvPr>
        </p:nvSpPr>
        <p:spPr>
          <a:xfrm>
            <a:off x="812800" y="1102358"/>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Rubik" pitchFamily="34" charset="0"/>
                <a:ea typeface="Rubik" pitchFamily="34" charset="-122"/>
                <a:cs typeface="Rubik" pitchFamily="34" charset="-120"/>
              </a:rPr>
              <a:t>Minu ühiktestid: 4/4 läbitud</a:t>
            </a:r>
            <a:endParaRPr lang="en-US" sz="3200" dirty="0"/>
          </a:p>
        </p:txBody>
      </p:sp>
      <p:sp>
        <p:nvSpPr>
          <p:cNvPr id="4" name="Shape 2"/>
          <p:cNvSpPr/>
          <p:nvPr/>
        </p:nvSpPr>
        <p:spPr>
          <a:xfrm>
            <a:off x="812800" y="1874521"/>
            <a:ext cx="10566400" cy="1201420"/>
          </a:xfrm>
          <a:prstGeom prst="roundRect">
            <a:avLst>
              <a:gd name="adj" fmla="val 8457"/>
            </a:avLst>
          </a:prstGeom>
          <a:solidFill>
            <a:srgbClr val="1E2A44"/>
          </a:solidFill>
          <a:ln/>
        </p:spPr>
      </p:sp>
      <p:sp>
        <p:nvSpPr>
          <p:cNvPr id="5" name="Text 3"/>
          <p:cNvSpPr/>
          <p:nvPr/>
        </p:nvSpPr>
        <p:spPr>
          <a:xfrm>
            <a:off x="1041400" y="2103121"/>
            <a:ext cx="10412476"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6EAF2"/>
                </a:solidFill>
                <a:latin typeface="JetBrains Mono" pitchFamily="49" charset="0"/>
                <a:ea typeface="JetBrains Mono" pitchFamily="49" charset="-122"/>
                <a:cs typeface="JetBrains Mono" pitchFamily="49" charset="-120"/>
              </a:rPr>
              <a:t>[InlineData("x^3 - 12*x", "3*x^2 - 12", "max f(-2) = 16; min f(2) = -16")]</a:t>
            </a:r>
            <a:endParaRPr lang="en-US" sz="1300" dirty="0"/>
          </a:p>
        </p:txBody>
      </p:sp>
      <p:sp>
        <p:nvSpPr>
          <p:cNvPr id="6" name="Text 4"/>
          <p:cNvSpPr/>
          <p:nvPr/>
        </p:nvSpPr>
        <p:spPr>
          <a:xfrm>
            <a:off x="1041400" y="2359658"/>
            <a:ext cx="10412476"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6EAF2"/>
                </a:solidFill>
                <a:latin typeface="JetBrains Mono" pitchFamily="49" charset="0"/>
                <a:ea typeface="JetBrains Mono" pitchFamily="49" charset="-122"/>
                <a:cs typeface="JetBrains Mono" pitchFamily="49" charset="-120"/>
              </a:rPr>
              <a:t>var t = analuusija.Analuusi(valem, -5, 5);</a:t>
            </a:r>
            <a:endParaRPr lang="en-US" sz="1300" dirty="0"/>
          </a:p>
        </p:txBody>
      </p:sp>
      <p:sp>
        <p:nvSpPr>
          <p:cNvPr id="7" name="Text 5"/>
          <p:cNvSpPr/>
          <p:nvPr/>
        </p:nvSpPr>
        <p:spPr>
          <a:xfrm>
            <a:off x="1041400" y="2616200"/>
            <a:ext cx="10412476"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6EAF2"/>
                </a:solidFill>
                <a:latin typeface="JetBrains Mono" pitchFamily="49" charset="0"/>
                <a:ea typeface="JetBrains Mono" pitchFamily="49" charset="-122"/>
                <a:cs typeface="JetBrains Mono" pitchFamily="49" charset="-120"/>
              </a:rPr>
              <a:t>Assert.Equal(tuletis, t.Tuletis);</a:t>
            </a:r>
            <a:endParaRPr lang="en-US" sz="1300" dirty="0"/>
          </a:p>
        </p:txBody>
      </p:sp>
      <p:sp>
        <p:nvSpPr>
          <p:cNvPr id="8" name="Shape 6"/>
          <p:cNvSpPr/>
          <p:nvPr/>
        </p:nvSpPr>
        <p:spPr>
          <a:xfrm>
            <a:off x="812800" y="3380742"/>
            <a:ext cx="10566400" cy="1035050"/>
          </a:xfrm>
          <a:prstGeom prst="roundRect">
            <a:avLst>
              <a:gd name="adj" fmla="val 7362"/>
            </a:avLst>
          </a:prstGeom>
          <a:solidFill>
            <a:srgbClr val="0C0C0C"/>
          </a:solidFill>
          <a:ln/>
        </p:spPr>
      </p:sp>
      <p:pic>
        <p:nvPicPr>
          <p:cNvPr id="9" name="Image 0" descr="Testide tulemus: Total 4, Failed 0">    </p:cNvPr>
          <p:cNvPicPr>
            <a:picLocks noChangeAspect="1"/>
          </p:cNvPicPr>
          <p:nvPr/>
        </p:nvPicPr>
        <p:blipFill>
          <a:blip r:embed="rId1"/>
          <a:srcRect l="-147" r="-147" t="0" b="0"/>
          <a:stretch/>
        </p:blipFill>
        <p:spPr>
          <a:xfrm>
            <a:off x="812800" y="3380742"/>
            <a:ext cx="10566400" cy="1035050"/>
          </a:xfrm>
          <a:prstGeom prst="roundRect">
            <a:avLst>
              <a:gd name="adj" fmla="val 7362"/>
            </a:avLst>
          </a:prstGeom>
        </p:spPr>
      </p:pic>
      <p:sp>
        <p:nvSpPr>
          <p:cNvPr id="10" name="Text 7"/>
          <p:cNvSpPr/>
          <p:nvPr/>
        </p:nvSpPr>
        <p:spPr>
          <a:xfrm>
            <a:off x="812800" y="6238242"/>
            <a:ext cx="26162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B"/>
                </a:solidFill>
                <a:latin typeface="Rubik" pitchFamily="34" charset="0"/>
                <a:ea typeface="Rubik" pitchFamily="34" charset="-122"/>
                <a:cs typeface="Rubik"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3B5BDB"/>
                </a:solidFill>
                <a:latin typeface="Rubik" pitchFamily="34" charset="0"/>
                <a:ea typeface="Rubik" pitchFamily="34" charset="-122"/>
                <a:cs typeface="Rubik" pitchFamily="34" charset="-120"/>
              </a:rPr>
              <a:t>HINNANG</a:t>
            </a:r>
            <a:endParaRPr lang="en-US" sz="1200" dirty="0"/>
          </a:p>
        </p:txBody>
      </p:sp>
      <p:sp>
        <p:nvSpPr>
          <p:cNvPr id="3" name="Text 1"/>
          <p:cNvSpPr/>
          <p:nvPr>
            <p:ph type="title"/>
          </p:nvPr>
        </p:nvSpPr>
        <p:spPr>
          <a:xfrm>
            <a:off x="812800" y="1102358"/>
            <a:ext cx="10883392" cy="49276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Rubik" pitchFamily="34" charset="0"/>
                <a:ea typeface="Rubik" pitchFamily="34" charset="-122"/>
                <a:cs typeface="Rubik" pitchFamily="34" charset="-120"/>
              </a:rPr>
              <a:t>Testitava töö hinnang</a:t>
            </a:r>
            <a:endParaRPr lang="en-US" sz="3200" dirty="0"/>
          </a:p>
        </p:txBody>
      </p:sp>
      <p:sp>
        <p:nvSpPr>
          <p:cNvPr id="4" name="Shape 2"/>
          <p:cNvSpPr/>
          <p:nvPr/>
        </p:nvSpPr>
        <p:spPr>
          <a:xfrm>
            <a:off x="812800" y="1874521"/>
            <a:ext cx="6096000" cy="2649220"/>
          </a:xfrm>
          <a:prstGeom prst="rect">
            <a:avLst/>
          </a:prstGeom>
          <a:solidFill>
            <a:srgbClr val="FFFFF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887221"/>
          <a:ext cx="6083300" cy="2636520"/>
        </p:xfrm>
        <a:graphic>
          <a:graphicData uri="http://schemas.openxmlformats.org/drawingml/2006/table">
            <a:tbl>
              <a:tblPr/>
              <a:tblGrid>
                <a:gridCol w="4258310"/>
                <a:gridCol w="1824990"/>
              </a:tblGrid>
              <a:tr h="439420">
                <a:tc>
                  <a:txBody>
                    <a:bodyPr/>
                    <a:lstStyle/>
                    <a:p>
                      <a:pPr indent="0" marL="0">
                        <a:lnSpc>
                          <a:spcPts val="2240"/>
                        </a:lnSpc>
                        <a:buNone/>
                      </a:pPr>
                      <a:r>
                        <a:rPr lang="en-US" sz="1600" b="1" dirty="0">
                          <a:solidFill>
                            <a:srgbClr val="14213D"/>
                          </a:solidFill>
                          <a:latin typeface="Rubik" pitchFamily="34" charset="0"/>
                          <a:ea typeface="Rubik" pitchFamily="34" charset="-122"/>
                          <a:cs typeface="Rubik" pitchFamily="34" charset="-120"/>
                        </a:rPr>
                        <a:t>Kriteerium</a:t>
                      </a:r>
                      <a:endParaRPr lang="en-US" sz="1600" dirty="0">
                        <a:latin typeface="Rubik" charset="0"/>
                        <a:ea typeface="Rubik" charset="0"/>
                        <a:cs typeface="Rubik"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2240"/>
                        </a:lnSpc>
                        <a:buNone/>
                      </a:pPr>
                      <a:r>
                        <a:rPr lang="en-US" sz="1600" b="1" dirty="0">
                          <a:solidFill>
                            <a:srgbClr val="14213D"/>
                          </a:solidFill>
                          <a:latin typeface="Rubik" pitchFamily="34" charset="0"/>
                          <a:ea typeface="Rubik" pitchFamily="34" charset="-122"/>
                          <a:cs typeface="Rubik" pitchFamily="34" charset="-120"/>
                        </a:rPr>
                        <a:t>Punktid</a:t>
                      </a:r>
                      <a:endParaRPr lang="en-US" sz="1600" dirty="0">
                        <a:latin typeface="Rubik" charset="0"/>
                        <a:ea typeface="Rubik" charset="0"/>
                        <a:cs typeface="Rubik" charset="0"/>
                      </a:endParaRPr>
                    </a:p>
                  </a:txBody>
                  <a:tcPr marL="71120" marR="71120" marT="71120" marB="7112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439420">
                <a:tc>
                  <a:txBody>
                    <a:bodyPr/>
                    <a:lstStyle/>
                    <a:p>
                      <a:pPr indent="0" marL="0">
                        <a:lnSpc>
                          <a:spcPts val="2240"/>
                        </a:lnSpc>
                        <a:buNone/>
                      </a:pPr>
                      <a:r>
                        <a:rPr lang="en-US" sz="1600" dirty="0">
                          <a:solidFill>
                            <a:srgbClr val="14213D"/>
                          </a:solidFill>
                          <a:latin typeface="Rubik" pitchFamily="34" charset="0"/>
                          <a:ea typeface="Rubik" pitchFamily="34" charset="-122"/>
                          <a:cs typeface="Rubik" pitchFamily="34" charset="-120"/>
                        </a:rPr>
                        <a:t>EF Core ja andmebaas</a:t>
                      </a:r>
                      <a:endParaRPr lang="en-US" sz="1600" dirty="0">
                        <a:latin typeface="Rubik" charset="0"/>
                        <a:ea typeface="Rubik" charset="0"/>
                        <a:cs typeface="Rubik"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Rubik" pitchFamily="34" charset="0"/>
                          <a:ea typeface="Rubik" pitchFamily="34" charset="-122"/>
                          <a:cs typeface="Rubik" pitchFamily="34" charset="-120"/>
                        </a:rPr>
                        <a:t>25 / 30</a:t>
                      </a:r>
                      <a:endParaRPr lang="en-US" sz="1600" dirty="0">
                        <a:latin typeface="Rubik" charset="0"/>
                        <a:ea typeface="Rubik" charset="0"/>
                        <a:cs typeface="Rubik"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420">
                <a:tc>
                  <a:txBody>
                    <a:bodyPr/>
                    <a:lstStyle/>
                    <a:p>
                      <a:pPr indent="0" marL="0">
                        <a:lnSpc>
                          <a:spcPts val="2240"/>
                        </a:lnSpc>
                        <a:buNone/>
                      </a:pPr>
                      <a:r>
                        <a:rPr lang="en-US" sz="1600" dirty="0">
                          <a:solidFill>
                            <a:srgbClr val="14213D"/>
                          </a:solidFill>
                          <a:latin typeface="Rubik" pitchFamily="34" charset="0"/>
                          <a:ea typeface="Rubik" pitchFamily="34" charset="-122"/>
                          <a:cs typeface="Rubik" pitchFamily="34" charset="-120"/>
                        </a:rPr>
                        <a:t>Backend ja valideerimine</a:t>
                      </a:r>
                      <a:endParaRPr lang="en-US" sz="1600" dirty="0">
                        <a:latin typeface="Rubik" charset="0"/>
                        <a:ea typeface="Rubik" charset="0"/>
                        <a:cs typeface="Rubik"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Rubik" pitchFamily="34" charset="0"/>
                          <a:ea typeface="Rubik" pitchFamily="34" charset="-122"/>
                          <a:cs typeface="Rubik" pitchFamily="34" charset="-120"/>
                        </a:rPr>
                        <a:t>24 / 25</a:t>
                      </a:r>
                      <a:endParaRPr lang="en-US" sz="1600" dirty="0">
                        <a:latin typeface="Rubik" charset="0"/>
                        <a:ea typeface="Rubik" charset="0"/>
                        <a:cs typeface="Rubik"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420">
                <a:tc>
                  <a:txBody>
                    <a:bodyPr/>
                    <a:lstStyle/>
                    <a:p>
                      <a:pPr indent="0" marL="0">
                        <a:lnSpc>
                          <a:spcPts val="2240"/>
                        </a:lnSpc>
                        <a:buNone/>
                      </a:pPr>
                      <a:r>
                        <a:rPr lang="en-US" sz="1600" dirty="0">
                          <a:solidFill>
                            <a:srgbClr val="14213D"/>
                          </a:solidFill>
                          <a:latin typeface="Rubik" pitchFamily="34" charset="0"/>
                          <a:ea typeface="Rubik" pitchFamily="34" charset="-122"/>
                          <a:cs typeface="Rubik" pitchFamily="34" charset="-120"/>
                        </a:rPr>
                        <a:t>Graafik ja kasutajaliides</a:t>
                      </a:r>
                      <a:endParaRPr lang="en-US" sz="1600" dirty="0">
                        <a:latin typeface="Rubik" charset="0"/>
                        <a:ea typeface="Rubik" charset="0"/>
                        <a:cs typeface="Rubik"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Rubik" pitchFamily="34" charset="0"/>
                          <a:ea typeface="Rubik" pitchFamily="34" charset="-122"/>
                          <a:cs typeface="Rubik" pitchFamily="34" charset="-120"/>
                        </a:rPr>
                        <a:t>26 / 30</a:t>
                      </a:r>
                      <a:endParaRPr lang="en-US" sz="1600" dirty="0">
                        <a:latin typeface="Rubik" charset="0"/>
                        <a:ea typeface="Rubik" charset="0"/>
                        <a:cs typeface="Rubik"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420">
                <a:tc>
                  <a:txBody>
                    <a:bodyPr/>
                    <a:lstStyle/>
                    <a:p>
                      <a:pPr indent="0" marL="0">
                        <a:lnSpc>
                          <a:spcPts val="2240"/>
                        </a:lnSpc>
                        <a:buNone/>
                      </a:pPr>
                      <a:r>
                        <a:rPr lang="en-US" sz="1600" dirty="0">
                          <a:solidFill>
                            <a:srgbClr val="14213D"/>
                          </a:solidFill>
                          <a:latin typeface="Rubik" pitchFamily="34" charset="0"/>
                          <a:ea typeface="Rubik" pitchFamily="34" charset="-122"/>
                          <a:cs typeface="Rubik" pitchFamily="34" charset="-120"/>
                        </a:rPr>
                        <a:t>Matemaatiline täpsus</a:t>
                      </a:r>
                      <a:endParaRPr lang="en-US" sz="1600" dirty="0">
                        <a:latin typeface="Rubik" charset="0"/>
                        <a:ea typeface="Rubik" charset="0"/>
                        <a:cs typeface="Rubik"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Rubik" pitchFamily="34" charset="0"/>
                          <a:ea typeface="Rubik" pitchFamily="34" charset="-122"/>
                          <a:cs typeface="Rubik" pitchFamily="34" charset="-120"/>
                        </a:rPr>
                        <a:t>15 / 15</a:t>
                      </a:r>
                      <a:endParaRPr lang="en-US" sz="1600" dirty="0">
                        <a:latin typeface="Rubik" charset="0"/>
                        <a:ea typeface="Rubik" charset="0"/>
                        <a:cs typeface="Rubik"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420">
                <a:tc>
                  <a:txBody>
                    <a:bodyPr/>
                    <a:lstStyle/>
                    <a:p>
                      <a:pPr indent="0" marL="0">
                        <a:lnSpc>
                          <a:spcPts val="2240"/>
                        </a:lnSpc>
                        <a:buNone/>
                      </a:pPr>
                      <a:r>
                        <a:rPr lang="en-US" sz="1600" dirty="0">
                          <a:solidFill>
                            <a:srgbClr val="14213D"/>
                          </a:solidFill>
                          <a:latin typeface="Rubik" pitchFamily="34" charset="0"/>
                          <a:ea typeface="Rubik" pitchFamily="34" charset="-122"/>
                          <a:cs typeface="Rubik" pitchFamily="34" charset="-120"/>
                        </a:rPr>
                        <a:t>Boonusülesanne</a:t>
                      </a:r>
                      <a:endParaRPr lang="en-US" sz="1600" dirty="0">
                        <a:latin typeface="Rubik" charset="0"/>
                        <a:ea typeface="Rubik" charset="0"/>
                        <a:cs typeface="Rubik"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Rubik" pitchFamily="34" charset="0"/>
                          <a:ea typeface="Rubik" pitchFamily="34" charset="-122"/>
                          <a:cs typeface="Rubik" pitchFamily="34" charset="-120"/>
                        </a:rPr>
                        <a:t>+15</a:t>
                      </a:r>
                      <a:endParaRPr lang="en-US" sz="1600" dirty="0">
                        <a:latin typeface="Rubik" charset="0"/>
                        <a:ea typeface="Rubik" charset="0"/>
                        <a:cs typeface="Rubik"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542792" y="2221229"/>
            <a:ext cx="1811909" cy="1168400"/>
          </a:xfrm>
          <a:prstGeom prst="rect">
            <a:avLst/>
          </a:prstGeom>
          <a:noFill/>
          <a:ln/>
        </p:spPr>
        <p:txBody>
          <a:bodyPr wrap="square" lIns="0" tIns="0" rIns="0" bIns="0" rtlCol="0" anchor="t">
            <a:normAutofit/>
          </a:bodyPr>
          <a:lstStyle/>
          <a:p>
            <a:pPr algn="ctr" indent="0" marL="0">
              <a:lnSpc>
                <a:spcPts val="9000"/>
              </a:lnSpc>
              <a:buNone/>
            </a:pPr>
            <a:r>
              <a:rPr lang="en-US" sz="9000" b="1" dirty="0">
                <a:solidFill>
                  <a:srgbClr val="14213D"/>
                </a:solidFill>
                <a:latin typeface="Rubik" pitchFamily="34" charset="0"/>
                <a:ea typeface="Rubik" pitchFamily="34" charset="-122"/>
                <a:cs typeface="Rubik" pitchFamily="34" charset="-120"/>
              </a:rPr>
              <a:t>90</a:t>
            </a:r>
            <a:endParaRPr lang="en-US" sz="9000" dirty="0"/>
          </a:p>
        </p:txBody>
      </p:sp>
      <p:sp>
        <p:nvSpPr>
          <p:cNvPr id="7" name="Text 4"/>
          <p:cNvSpPr/>
          <p:nvPr/>
        </p:nvSpPr>
        <p:spPr>
          <a:xfrm>
            <a:off x="8550666" y="3415029"/>
            <a:ext cx="1796161" cy="345440"/>
          </a:xfrm>
          <a:prstGeom prst="rect">
            <a:avLst/>
          </a:prstGeom>
          <a:noFill/>
          <a:ln/>
        </p:spPr>
        <p:txBody>
          <a:bodyPr wrap="square" lIns="0" tIns="0" rIns="0" bIns="0" rtlCol="0" anchor="t">
            <a:normAutofit/>
          </a:bodyPr>
          <a:lstStyle/>
          <a:p>
            <a:pPr algn="ctr" indent="0" marL="0">
              <a:lnSpc>
                <a:spcPts val="2520"/>
              </a:lnSpc>
              <a:buNone/>
            </a:pPr>
            <a:r>
              <a:rPr lang="en-US" sz="1800" dirty="0">
                <a:solidFill>
                  <a:srgbClr val="14213D"/>
                </a:solidFill>
                <a:latin typeface="Rubik" pitchFamily="34" charset="0"/>
                <a:ea typeface="Rubik" pitchFamily="34" charset="-122"/>
                <a:cs typeface="Rubik" pitchFamily="34" charset="-120"/>
              </a:rPr>
              <a:t>punkti 100-st</a:t>
            </a:r>
            <a:endParaRPr lang="en-US" sz="1800" dirty="0"/>
          </a:p>
        </p:txBody>
      </p:sp>
      <p:sp>
        <p:nvSpPr>
          <p:cNvPr id="8" name="Text 5"/>
          <p:cNvSpPr/>
          <p:nvPr/>
        </p:nvSpPr>
        <p:spPr>
          <a:xfrm>
            <a:off x="8505200" y="3785871"/>
            <a:ext cx="1887093" cy="416560"/>
          </a:xfrm>
          <a:prstGeom prst="rect">
            <a:avLst/>
          </a:prstGeom>
          <a:noFill/>
          <a:ln/>
        </p:spPr>
        <p:txBody>
          <a:bodyPr wrap="square" lIns="0" tIns="0" rIns="0" bIns="0" rtlCol="0" anchor="t">
            <a:normAutofit/>
          </a:bodyPr>
          <a:lstStyle/>
          <a:p>
            <a:pPr algn="ctr" indent="0" marL="0">
              <a:lnSpc>
                <a:spcPts val="3080"/>
              </a:lnSpc>
              <a:buNone/>
            </a:pPr>
            <a:r>
              <a:rPr lang="en-US" sz="2200" b="1" dirty="0">
                <a:solidFill>
                  <a:srgbClr val="2F7A4A"/>
                </a:solidFill>
                <a:latin typeface="Rubik" pitchFamily="34" charset="0"/>
                <a:ea typeface="Rubik" pitchFamily="34" charset="-122"/>
                <a:cs typeface="Rubik" pitchFamily="34" charset="-120"/>
              </a:rPr>
              <a:t>+15 boonus</a:t>
            </a:r>
            <a:endParaRPr lang="en-US" sz="2200" dirty="0"/>
          </a:p>
        </p:txBody>
      </p:sp>
      <p:sp>
        <p:nvSpPr>
          <p:cNvPr id="9" name="Text 6"/>
          <p:cNvSpPr/>
          <p:nvPr/>
        </p:nvSpPr>
        <p:spPr>
          <a:xfrm>
            <a:off x="812800" y="6238242"/>
            <a:ext cx="26162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B"/>
                </a:solidFill>
                <a:latin typeface="Rubik" pitchFamily="34" charset="0"/>
                <a:ea typeface="Rubik" pitchFamily="34" charset="-122"/>
                <a:cs typeface="Rubik"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2543638" y="2697479"/>
            <a:ext cx="7104618" cy="1488440"/>
          </a:xfrm>
          <a:prstGeom prst="rect">
            <a:avLst/>
          </a:prstGeom>
          <a:noFill/>
          <a:ln/>
        </p:spPr>
        <p:txBody>
          <a:bodyPr wrap="square" lIns="0" tIns="0" rIns="0" bIns="0" rtlCol="0" anchor="t">
            <a:normAutofit/>
          </a:bodyPr>
          <a:lstStyle/>
          <a:p>
            <a:pPr algn="ctr" indent="0" marL="0">
              <a:lnSpc>
                <a:spcPts val="5760"/>
              </a:lnSpc>
              <a:buNone/>
            </a:pPr>
            <a:r>
              <a:rPr lang="en-US" sz="4800" b="1" dirty="0">
                <a:solidFill>
                  <a:srgbClr val="F6F5F1"/>
                </a:solidFill>
                <a:latin typeface="Rubik" pitchFamily="34" charset="0"/>
                <a:ea typeface="Rubik" pitchFamily="34" charset="-122"/>
                <a:cs typeface="Rubik" pitchFamily="34" charset="-120"/>
              </a:rPr>
              <a:t>See on kõik!</a:t>
            </a:r>
            <a:endParaRPr lang="en-US" sz="4800" dirty="0"/>
          </a:p>
          <a:p>
            <a:pPr algn="ctr" indent="0" marL="0">
              <a:lnSpc>
                <a:spcPts val="5760"/>
              </a:lnSpc>
              <a:buNone/>
            </a:pPr>
            <a:r>
              <a:rPr lang="en-US" sz="4800" b="1" dirty="0">
                <a:solidFill>
                  <a:srgbClr val="F6F5F1"/>
                </a:solidFill>
                <a:latin typeface="Rubik" pitchFamily="34" charset="0"/>
                <a:ea typeface="Rubik" pitchFamily="34" charset="-122"/>
                <a:cs typeface="Rubik" pitchFamily="34" charset="-120"/>
              </a:rPr>
              <a:t>Aitäh tähelepanu eest!</a:t>
            </a:r>
            <a:endParaRPr lang="en-US" sz="4800" dirty="0"/>
          </a:p>
        </p:txBody>
      </p:sp>
    </p:spTree>
  </p:cSld>
  <p:clrMapOvr>
    <a:masterClrMapping/>
  </p:clrMapOvr>
</p:sld>
</file>

<file path=ppt/theme/theme1.xml><?xml version="1.0" encoding="utf-8"?>
<a:theme xmlns:a="http://schemas.openxmlformats.org/drawingml/2006/main" name="Funktsioonide uurimise rakenduse testimine">
  <a:themeElements>
    <a:clrScheme name="Funktsioonide uurimise rakenduse testimine">
      <a:dk1>
        <a:srgbClr val="14213D"/>
      </a:dk1>
      <a:lt1>
        <a:srgbClr val="F6F5F1"/>
      </a:lt1>
      <a:dk2>
        <a:srgbClr val="4D566A"/>
      </a:dk2>
      <a:lt2>
        <a:srgbClr val="DFE0DF"/>
      </a:lt2>
      <a:accent1>
        <a:srgbClr val="8FA8F5"/>
      </a:accent1>
      <a:accent2>
        <a:srgbClr val="3B5BDB"/>
      </a:accent2>
      <a:accent3>
        <a:srgbClr val="8A2416"/>
      </a:accent3>
      <a:accent4>
        <a:srgbClr val="C2410C"/>
      </a:accent4>
      <a:accent5>
        <a:srgbClr val="2F7A4A"/>
      </a:accent5>
      <a:accent6>
        <a:srgbClr val="FBE8C8"/>
      </a:accent6>
      <a:hlink>
        <a:srgbClr val="0563C1"/>
      </a:hlink>
      <a:folHlink>
        <a:srgbClr val="954F72"/>
      </a:folHlink>
    </a:clrScheme>
    <a:fontScheme name="Funktsioonide uurimise rakenduse testimine">
      <a:majorFont>
        <a:latin typeface="Rubi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ubi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Funktsioonide uurimise rakenduse testimine</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Rubik
Copyright 2015 The Rubik Project Authors (https://github.com/googlefonts/rubik)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2026-10-26T14:40:54Z</dcterms:created>
  <dcterms:modified xsi:type="dcterms:W3CDTF">2026-10-26T14:40:54Z</dcterms:modified>
</cp:coreProperties>
</file>