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Rubik" pitchFamily="34" charset="0"/>
      <p:regular r:id="rId19"/>
      <p:bold r:id="rId20"/>
    </p:embeddedFon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Tere! Minu nimi on Nikita Nikiforov. Ma testisin Maksimi funktsioonide uurimise veebirakendust ja räägin, mida ma testisin, kuidas ja mis vead leidsin.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Rakendus on funktsioonide uurimiseks: sisestad valemi, saad tuletise, nullkohad, ekstreemumid ja graafiku. Minu eesmärk oli kontrollida, kas see vastab ülesandele, ja leida vigu. Testisin viit valdkonda, mis on paremal. Turvalisust ja koormust ma ei testinud.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Kasutasin nelja meetodit. Musta kasti testimine: kasutan rakendust nagu tavaline kasutaja. Piirväärtused: testin täpselt piiril ja üle piiri, näiteks valem 200 märki on lubatud, 201 enam mitte. Koodiülevaatus: lugesin autori koodi. Ühiktestid: kirjutasin ise testid matemaatikale. Igal testil on staatus: OK, OSALINE või VIGA.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Proovisin käivitada README järgi. npm install töötas. npm run dev kooli arvuti ei lubanud, seega käivitasin backendi ja frontendi eraldi. dotnet build andis vea, sest global.json nõuab SDK versiooni 10.0.102, aga arvutis on 10.0.100. See on minu esimene viga V-01. Kui muutsin versiooni, töötas kõik ja andmebaas tekkis 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Lühidalt numbrites: tegin 27 testjuhtumit, 21 olid OK, 4 osaliselt ja 2 lõppesid veaga. Kokku leidsin 10 viga: 3 keskmist ja 7 madalat, kriitilisi ei olnud. Lisaks läbisid kõik autori 82 automaattesti ja minu 4 testi.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Aruandes on testjuhtumid tabelites. Iga rida on üks test. ID on testi number, eeltingimus näitab, mis peab enne olemas olema, sammud ja sisend näitavad, mida ma tegin. Siis on oodatav tulemus ja tegelik tulemus. Kui need erinevad, on staatus VIGA või OSALINE ja sulgudes viide vearaportile. Näiteks TJ-13: tegin topeltklõpsu nupul Salvesta ja tekkis mitu ühesugust kirjet, see on viga V-03.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Kõige olulisemad vead on kaks. Esimene, V-02: salvestatud kirjet ei saa kasutajaliideses muuta. Detailvaates on ainult nupp Kustuta, kuigi serveris on muutmine olemas. Teine, V-03: kui teha nupul Salvesta topeltklõps, tekib mitu ühesugust kirjet, nagu pildil näha. Mõlemad on keskmise tõsidusega.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Ülejäänud vead on väiksemad. V-01 on SDK versioon, millest rääkisin. Teised on madala tõsidusega: näiteks graafikul on arvud inglise vormingus, 4,000 asemel peaks olema 4 000, telefonis murdub vahemiku tähis kahele reale ja serveri vea korral tuleb tehniline teade 502. Kõik need on lihtsad parandada.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Nüüd see, mis töötas hästi. Matemaatika oli kõikjal õige, kontrollisin käsitsi. Valideerimine töötab väga hästi: tühi valem, 1000 märki, script-tag ja vigased valemid lükati kõik tagasi ja teade on eesti keeles. Graafik on selge: tuletis on katkendjoonega ja asümptoodid on õigesti näidatud. Boonusülesanne töötab 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Kirjutasin eraldi projektis kaks xUnit-testi matemaatikale. Esimene kontrollib juhendi kolme funktsiooni tuletist ja ekstreemumeid, teine ratsionaalfunktsiooni. Esimesel testil on kolm andmerida, seega kokku 4 testi. All on tulemus: Total 4, Failed 0, kõik läbisid.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Juhendi järgi pidin andma punktihinnangu. Andmebaasi eest 25 punkti 30-st, sest muutmine puudub ja tekivad topeltkirjed. Backend ja valideerimine 24 punkti 25-st. Graafik ja kasutajaliides 26 punkti 30-st väiksemate puuduste pärast. Matemaatika täispunktid ja boonus samuti. Kokku 90 punkti ja 15 boonuspunkti.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on kõik! Aitäh tähelepanu eest!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8FA8F5"/>
                </a:solidFill>
                <a:latin typeface="Rubik" pitchFamily="34" charset="0"/>
                <a:ea typeface="Rubik" pitchFamily="34" charset="-122"/>
                <a:cs typeface="Rubik" pitchFamily="34" charset="-120"/>
              </a:rPr>
              <a:t>TESTIMISARUANNE · PROGRAMMEERIMINE</a:t>
            </a:r>
            <a:endParaRPr lang="en-US" sz="1600" dirty="0"/>
          </a:p>
        </p:txBody>
      </p:sp>
      <p:sp>
        <p:nvSpPr>
          <p:cNvPr id="3" name="Text 1"/>
          <p:cNvSpPr/>
          <p:nvPr>
            <p:ph type="title"/>
          </p:nvPr>
        </p:nvSpPr>
        <p:spPr>
          <a:xfrm>
            <a:off x="812800" y="1300480"/>
            <a:ext cx="10883392"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1"/>
                </a:solidFill>
                <a:latin typeface="Rubik" pitchFamily="34" charset="0"/>
                <a:ea typeface="Rubik" pitchFamily="34" charset="-122"/>
                <a:cs typeface="Rubik" pitchFamily="34" charset="-120"/>
              </a:rPr>
              <a:t>Funktsioonide uurimise veebirakenduse testimine</a:t>
            </a:r>
            <a:endParaRPr lang="en-US" sz="5600" dirty="0"/>
          </a:p>
        </p:txBody>
      </p:sp>
      <p:sp>
        <p:nvSpPr>
          <p:cNvPr id="4" name="Text 2"/>
          <p:cNvSpPr/>
          <p:nvPr/>
        </p:nvSpPr>
        <p:spPr>
          <a:xfrm>
            <a:off x="812800" y="5461000"/>
            <a:ext cx="31439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Rubik" pitchFamily="34" charset="0"/>
                <a:ea typeface="Rubik" pitchFamily="34" charset="-122"/>
                <a:cs typeface="Rubik" pitchFamily="34" charset="-120"/>
              </a:rPr>
              <a:t>Testija</a:t>
            </a:r>
            <a:endParaRPr lang="en-US" sz="1200" dirty="0"/>
          </a:p>
        </p:txBody>
      </p:sp>
      <p:sp>
        <p:nvSpPr>
          <p:cNvPr id="5" name="Text 3"/>
          <p:cNvSpPr/>
          <p:nvPr/>
        </p:nvSpPr>
        <p:spPr>
          <a:xfrm>
            <a:off x="812800" y="5725160"/>
            <a:ext cx="366193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5F1"/>
                </a:solidFill>
                <a:latin typeface="Rubik" pitchFamily="34" charset="0"/>
                <a:ea typeface="Rubik" pitchFamily="34" charset="-122"/>
                <a:cs typeface="Rubik" pitchFamily="34" charset="-120"/>
              </a:rPr>
              <a:t>Nikita Nikiforov, M-TARpv24</a:t>
            </a:r>
            <a:endParaRPr lang="en-US" sz="1800" dirty="0"/>
          </a:p>
        </p:txBody>
      </p:sp>
      <p:sp>
        <p:nvSpPr>
          <p:cNvPr id="6" name="Text 4"/>
          <p:cNvSpPr/>
          <p:nvPr/>
        </p:nvSpPr>
        <p:spPr>
          <a:xfrm>
            <a:off x="4474739" y="5461000"/>
            <a:ext cx="20528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Rubik" pitchFamily="34" charset="0"/>
                <a:ea typeface="Rubik" pitchFamily="34" charset="-122"/>
                <a:cs typeface="Rubik" pitchFamily="34" charset="-120"/>
              </a:rPr>
              <a:t>Testitava töö autor</a:t>
            </a:r>
            <a:endParaRPr lang="en-US" sz="1200" dirty="0"/>
          </a:p>
        </p:txBody>
      </p:sp>
      <p:sp>
        <p:nvSpPr>
          <p:cNvPr id="7" name="Text 5"/>
          <p:cNvSpPr/>
          <p:nvPr/>
        </p:nvSpPr>
        <p:spPr>
          <a:xfrm>
            <a:off x="4474739" y="5725160"/>
            <a:ext cx="239166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5F1"/>
                </a:solidFill>
                <a:latin typeface="Rubik" pitchFamily="34" charset="0"/>
                <a:ea typeface="Rubik" pitchFamily="34" charset="-122"/>
                <a:cs typeface="Rubik" pitchFamily="34" charset="-120"/>
              </a:rPr>
              <a:t>Maksim Tsikvasvili</a:t>
            </a:r>
            <a:endParaRPr lang="en-US" sz="1800" dirty="0"/>
          </a:p>
        </p:txBody>
      </p:sp>
      <p:sp>
        <p:nvSpPr>
          <p:cNvPr id="8" name="Text 6"/>
          <p:cNvSpPr/>
          <p:nvPr/>
        </p:nvSpPr>
        <p:spPr>
          <a:xfrm>
            <a:off x="7077393" y="5461000"/>
            <a:ext cx="15882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Rubik" pitchFamily="34" charset="0"/>
                <a:ea typeface="Rubik" pitchFamily="34" charset="-122"/>
                <a:cs typeface="Rubik" pitchFamily="34" charset="-120"/>
              </a:rPr>
              <a:t>Juhendaja</a:t>
            </a:r>
            <a:endParaRPr lang="en-US" sz="1200" dirty="0"/>
          </a:p>
        </p:txBody>
      </p:sp>
      <p:sp>
        <p:nvSpPr>
          <p:cNvPr id="9" name="Text 7"/>
          <p:cNvSpPr/>
          <p:nvPr/>
        </p:nvSpPr>
        <p:spPr>
          <a:xfrm>
            <a:off x="7077393" y="5725160"/>
            <a:ext cx="184492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5F1"/>
                </a:solidFill>
                <a:latin typeface="Rubik" pitchFamily="34" charset="0"/>
                <a:ea typeface="Rubik" pitchFamily="34" charset="-122"/>
                <a:cs typeface="Rubik" pitchFamily="34" charset="-120"/>
              </a:rPr>
              <a:t>Marina Oleinik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MIDA TESTITI</a:t>
            </a:r>
            <a:endParaRPr lang="en-US" sz="1200" dirty="0"/>
          </a:p>
        </p:txBody>
      </p:sp>
      <p:sp>
        <p:nvSpPr>
          <p:cNvPr id="3" name="Text 1"/>
          <p:cNvSpPr/>
          <p:nvPr>
            <p:ph type="title"/>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Rakendus ja testimise eesmärk</a:t>
            </a:r>
            <a:endParaRPr lang="en-US" sz="3200" dirty="0"/>
          </a:p>
        </p:txBody>
      </p:sp>
      <p:sp>
        <p:nvSpPr>
          <p:cNvPr id="4" name="Text 2"/>
          <p:cNvSpPr/>
          <p:nvPr/>
        </p:nvSpPr>
        <p:spPr>
          <a:xfrm>
            <a:off x="812800" y="1874520"/>
            <a:ext cx="5016564"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Rubik" pitchFamily="34" charset="0"/>
                <a:ea typeface="Rubik" pitchFamily="34" charset="-122"/>
                <a:cs typeface="Rubik" pitchFamily="34" charset="-120"/>
              </a:rPr>
              <a:t>Kasutaja sisestab funktsiooni valemi ja rakendus leiab </a:t>
            </a:r>
            <a:r>
              <a:rPr lang="en-US" sz="1600" b="1" dirty="0">
                <a:solidFill>
                  <a:srgbClr val="14213D"/>
                </a:solidFill>
                <a:latin typeface="Rubik" pitchFamily="34" charset="0"/>
                <a:ea typeface="Rubik" pitchFamily="34" charset="-122"/>
                <a:cs typeface="Rubik" pitchFamily="34" charset="-120"/>
              </a:rPr>
              <a:t>tuletise, nullkohad, ekstreemumid</a:t>
            </a:r>
            <a:r>
              <a:rPr lang="en-US" sz="1600" dirty="0">
                <a:solidFill>
                  <a:srgbClr val="4A5568"/>
                </a:solidFill>
                <a:latin typeface="Rubik" pitchFamily="34" charset="0"/>
                <a:ea typeface="Rubik" pitchFamily="34" charset="-122"/>
                <a:cs typeface="Rubik" pitchFamily="34" charset="-120"/>
              </a:rPr>
              <a:t> ning joonestab </a:t>
            </a:r>
            <a:r>
              <a:rPr lang="en-US" sz="1600" b="1" dirty="0">
                <a:solidFill>
                  <a:srgbClr val="14213D"/>
                </a:solidFill>
                <a:latin typeface="Rubik" pitchFamily="34" charset="0"/>
                <a:ea typeface="Rubik" pitchFamily="34" charset="-122"/>
                <a:cs typeface="Rubik" pitchFamily="34" charset="-120"/>
              </a:rPr>
              <a:t>graafiku</a:t>
            </a:r>
            <a:r>
              <a:rPr lang="en-US" sz="1600" dirty="0">
                <a:solidFill>
                  <a:srgbClr val="4A5568"/>
                </a:solidFill>
                <a:latin typeface="Rubik" pitchFamily="34" charset="0"/>
                <a:ea typeface="Rubik" pitchFamily="34" charset="-122"/>
                <a:cs typeface="Rubik" pitchFamily="34" charset="-120"/>
              </a:rPr>
              <a:t>.</a:t>
            </a:r>
            <a:endParaRPr lang="en-US" sz="1600" dirty="0"/>
          </a:p>
        </p:txBody>
      </p:sp>
      <p:sp>
        <p:nvSpPr>
          <p:cNvPr id="5" name="Text 3"/>
          <p:cNvSpPr/>
          <p:nvPr/>
        </p:nvSpPr>
        <p:spPr>
          <a:xfrm>
            <a:off x="812800" y="2910840"/>
            <a:ext cx="5016564" cy="90932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14213D"/>
                </a:solidFill>
                <a:latin typeface="Rubik" pitchFamily="34" charset="0"/>
                <a:ea typeface="Rubik" pitchFamily="34" charset="-122"/>
                <a:cs typeface="Rubik" pitchFamily="34" charset="-120"/>
              </a:rPr>
              <a:t>Eesmärk:</a:t>
            </a:r>
            <a:r>
              <a:rPr lang="en-US" sz="1600" dirty="0">
                <a:solidFill>
                  <a:srgbClr val="4A5568"/>
                </a:solidFill>
                <a:latin typeface="Rubik" pitchFamily="34" charset="0"/>
                <a:ea typeface="Rubik" pitchFamily="34" charset="-122"/>
                <a:cs typeface="Rubik" pitchFamily="34" charset="-120"/>
              </a:rPr>
              <a:t> kontrollida, kas rakendus vastab ülesandele, ja leida vead, mida autor saab parandada.</a:t>
            </a:r>
            <a:endParaRPr lang="en-US" sz="1600" dirty="0"/>
          </a:p>
        </p:txBody>
      </p:sp>
      <p:sp>
        <p:nvSpPr>
          <p:cNvPr id="6" name="Text 4"/>
          <p:cNvSpPr/>
          <p:nvPr/>
        </p:nvSpPr>
        <p:spPr>
          <a:xfrm>
            <a:off x="812800" y="3947160"/>
            <a:ext cx="501656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ASP.NET Core 10 · EF Core + SQLite · React · ECharts</a:t>
            </a:r>
            <a:endParaRPr lang="en-US" sz="1400" dirty="0"/>
          </a:p>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Testitud versioon: commit </a:t>
            </a:r>
            <a:r>
              <a:rPr lang="en-US" sz="1400" dirty="0">
                <a:solidFill>
                  <a:srgbClr val="3B5BDB"/>
                </a:solidFill>
                <a:latin typeface="Rubik" pitchFamily="34" charset="0"/>
                <a:ea typeface="Rubik" pitchFamily="34" charset="-122"/>
                <a:cs typeface="Rubik" pitchFamily="34" charset="-120"/>
              </a:rPr>
              <a:t>0b00272</a:t>
            </a:r>
            <a:endParaRPr lang="en-US" sz="1400" dirty="0"/>
          </a:p>
        </p:txBody>
      </p:sp>
      <p:sp>
        <p:nvSpPr>
          <p:cNvPr id="7" name="Shape 5"/>
          <p:cNvSpPr/>
          <p:nvPr/>
        </p:nvSpPr>
        <p:spPr>
          <a:xfrm>
            <a:off x="5991225" y="1877695"/>
            <a:ext cx="5384800" cy="3961130"/>
          </a:xfrm>
          <a:prstGeom prst="roundRect">
            <a:avLst>
              <a:gd name="adj" fmla="val 2485"/>
            </a:avLst>
          </a:prstGeom>
          <a:solidFill>
            <a:srgbClr val="FFFFFF"/>
          </a:solidFill>
          <a:ln w="6350">
            <a:solidFill>
              <a:srgbClr val="E2E4EA"/>
            </a:solidFill>
            <a:prstDash val="solid"/>
          </a:ln>
        </p:spPr>
      </p:sp>
      <p:sp>
        <p:nvSpPr>
          <p:cNvPr id="8" name="Text 6"/>
          <p:cNvSpPr/>
          <p:nvPr/>
        </p:nvSpPr>
        <p:spPr>
          <a:xfrm>
            <a:off x="6248400" y="2134870"/>
            <a:ext cx="501656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Testiti</a:t>
            </a:r>
            <a:endParaRPr lang="en-US" sz="1800" dirty="0"/>
          </a:p>
        </p:txBody>
      </p:sp>
      <p:sp>
        <p:nvSpPr>
          <p:cNvPr id="9" name="Text 7"/>
          <p:cNvSpPr/>
          <p:nvPr/>
        </p:nvSpPr>
        <p:spPr>
          <a:xfrm>
            <a:off x="6332220" y="2510790"/>
            <a:ext cx="4925123" cy="1501775"/>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4A5568"/>
                </a:solidFill>
                <a:latin typeface="Rubik" pitchFamily="34" charset="0"/>
                <a:ea typeface="Rubik" pitchFamily="34" charset="-122"/>
                <a:cs typeface="Rubik" pitchFamily="34" charset="-120"/>
              </a:rPr>
              <a:t>Andmebaas ja CRUD</a:t>
            </a:r>
            <a:endParaRPr lang="en-US" sz="1500" dirty="0"/>
          </a:p>
          <a:p>
            <a:pPr algn="l" marL="170180" indent="-170180">
              <a:lnSpc>
                <a:spcPts val="2250"/>
              </a:lnSpc>
              <a:buSzPct val="100000"/>
              <a:buChar char="•"/>
            </a:pPr>
            <a:r>
              <a:rPr lang="en-US" sz="1500" dirty="0">
                <a:solidFill>
                  <a:srgbClr val="4A5568"/>
                </a:solidFill>
                <a:latin typeface="Rubik" pitchFamily="34" charset="0"/>
                <a:ea typeface="Rubik" pitchFamily="34" charset="-122"/>
                <a:cs typeface="Rubik" pitchFamily="34" charset="-120"/>
              </a:rPr>
              <a:t>Sisendi valideerimine</a:t>
            </a:r>
            <a:endParaRPr lang="en-US" sz="1500" dirty="0"/>
          </a:p>
          <a:p>
            <a:pPr algn="l" marL="170180" indent="-170180">
              <a:lnSpc>
                <a:spcPts val="2250"/>
              </a:lnSpc>
              <a:buSzPct val="100000"/>
              <a:buChar char="•"/>
            </a:pPr>
            <a:r>
              <a:rPr lang="en-US" sz="1500" dirty="0">
                <a:solidFill>
                  <a:srgbClr val="4A5568"/>
                </a:solidFill>
                <a:latin typeface="Rubik" pitchFamily="34" charset="0"/>
                <a:ea typeface="Rubik" pitchFamily="34" charset="-122"/>
                <a:cs typeface="Rubik" pitchFamily="34" charset="-120"/>
              </a:rPr>
              <a:t>Kasutajaliides ja graafik</a:t>
            </a:r>
            <a:endParaRPr lang="en-US" sz="1500" dirty="0"/>
          </a:p>
          <a:p>
            <a:pPr algn="l" marL="170180" indent="-170180">
              <a:lnSpc>
                <a:spcPts val="2250"/>
              </a:lnSpc>
              <a:buSzPct val="100000"/>
              <a:buChar char="•"/>
            </a:pPr>
            <a:r>
              <a:rPr lang="en-US" sz="1500" dirty="0">
                <a:solidFill>
                  <a:srgbClr val="4A5568"/>
                </a:solidFill>
                <a:latin typeface="Rubik" pitchFamily="34" charset="0"/>
                <a:ea typeface="Rubik" pitchFamily="34" charset="-122"/>
                <a:cs typeface="Rubik" pitchFamily="34" charset="-120"/>
              </a:rPr>
              <a:t>Matemaatiline täpsus</a:t>
            </a:r>
            <a:endParaRPr lang="en-US" sz="1500" dirty="0"/>
          </a:p>
          <a:p>
            <a:pPr algn="l" marL="170180" indent="-170180">
              <a:lnSpc>
                <a:spcPts val="2250"/>
              </a:lnSpc>
              <a:buSzPct val="100000"/>
              <a:buChar char="•"/>
            </a:pPr>
            <a:r>
              <a:rPr lang="en-US" sz="1500" dirty="0">
                <a:solidFill>
                  <a:srgbClr val="4A5568"/>
                </a:solidFill>
                <a:latin typeface="Rubik" pitchFamily="34" charset="0"/>
                <a:ea typeface="Rubik" pitchFamily="34" charset="-122"/>
                <a:cs typeface="Rubik" pitchFamily="34" charset="-120"/>
              </a:rPr>
              <a:t>Boonusülesanne</a:t>
            </a:r>
            <a:endParaRPr lang="en-US" sz="1500" dirty="0"/>
          </a:p>
        </p:txBody>
      </p:sp>
      <p:sp>
        <p:nvSpPr>
          <p:cNvPr id="10" name="Text 8"/>
          <p:cNvSpPr/>
          <p:nvPr/>
        </p:nvSpPr>
        <p:spPr>
          <a:xfrm>
            <a:off x="6248400" y="4088765"/>
            <a:ext cx="51244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Rubik" pitchFamily="34" charset="0"/>
                <a:ea typeface="Rubik" pitchFamily="34" charset="-122"/>
                <a:cs typeface="Rubik" pitchFamily="34" charset="-120"/>
              </a:rPr>
              <a:t>Ei testitud: turvalisus, koormus, ainult klaviatuuriga kasutamine</a:t>
            </a:r>
            <a:endParaRPr lang="en-US" sz="1300" dirty="0"/>
          </a:p>
        </p:txBody>
      </p:sp>
      <p:sp>
        <p:nvSpPr>
          <p:cNvPr id="11" name="Text 9"/>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KUIDAS TESTITI</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Neli testimise meetodit</a:t>
            </a:r>
            <a:endParaRPr lang="en-US" sz="3200" dirty="0"/>
          </a:p>
        </p:txBody>
      </p:sp>
      <p:sp>
        <p:nvSpPr>
          <p:cNvPr id="4" name="Shape 2"/>
          <p:cNvSpPr/>
          <p:nvPr/>
        </p:nvSpPr>
        <p:spPr>
          <a:xfrm>
            <a:off x="815975" y="1877695"/>
            <a:ext cx="2520950" cy="2203450"/>
          </a:xfrm>
          <a:prstGeom prst="roundRect">
            <a:avLst>
              <a:gd name="adj" fmla="val 4467"/>
            </a:avLst>
          </a:prstGeom>
          <a:solidFill>
            <a:srgbClr val="FFFFFF"/>
          </a:solidFill>
          <a:ln w="6350">
            <a:solidFill>
              <a:srgbClr val="E2E4EA"/>
            </a:solidFill>
            <a:prstDash val="solid"/>
          </a:ln>
        </p:spPr>
      </p:sp>
      <p:pic>
        <p:nvPicPr>
          <p:cNvPr id="5" name="Image 0" descr="Users">    </p:cNvPr>
          <p:cNvPicPr>
            <a:picLocks noChangeAspect="1"/>
          </p:cNvPicPr>
          <p:nvPr/>
        </p:nvPicPr>
        <p:blipFill>
          <a:blip r:embed="rId1"/>
          <a:srcRect l="0" r="0" t="0" b="0"/>
          <a:stretch/>
        </p:blipFill>
        <p:spPr>
          <a:xfrm>
            <a:off x="1047750" y="2109470"/>
            <a:ext cx="355600" cy="355600"/>
          </a:xfrm>
          <a:prstGeom prst="rect">
            <a:avLst/>
          </a:prstGeom>
        </p:spPr>
      </p:pic>
      <p:sp>
        <p:nvSpPr>
          <p:cNvPr id="6" name="Text 3"/>
          <p:cNvSpPr/>
          <p:nvPr/>
        </p:nvSpPr>
        <p:spPr>
          <a:xfrm>
            <a:off x="1047750" y="2566670"/>
            <a:ext cx="2119122"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Musta kasti testimine</a:t>
            </a:r>
            <a:endParaRPr lang="en-US" sz="1600" dirty="0"/>
          </a:p>
        </p:txBody>
      </p:sp>
      <p:sp>
        <p:nvSpPr>
          <p:cNvPr id="7" name="Text 4"/>
          <p:cNvSpPr/>
          <p:nvPr/>
        </p:nvSpPr>
        <p:spPr>
          <a:xfrm>
            <a:off x="1047750" y="3155950"/>
            <a:ext cx="211912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Kasutasin rakendust nagu tavaline kasutaja, koodi vaatamata</a:t>
            </a:r>
            <a:endParaRPr lang="en-US" sz="1300" dirty="0"/>
          </a:p>
        </p:txBody>
      </p:sp>
      <p:sp>
        <p:nvSpPr>
          <p:cNvPr id="8" name="Shape 5"/>
          <p:cNvSpPr/>
          <p:nvPr/>
        </p:nvSpPr>
        <p:spPr>
          <a:xfrm>
            <a:off x="3495675" y="1877695"/>
            <a:ext cx="2520950" cy="2203450"/>
          </a:xfrm>
          <a:prstGeom prst="roundRect">
            <a:avLst>
              <a:gd name="adj" fmla="val 4467"/>
            </a:avLst>
          </a:prstGeom>
          <a:solidFill>
            <a:srgbClr val="FFFFFF"/>
          </a:solidFill>
          <a:ln w="6350">
            <a:solidFill>
              <a:srgbClr val="E2E4EA"/>
            </a:solidFill>
            <a:prstDash val="solid"/>
          </a:ln>
        </p:spPr>
      </p:sp>
      <p:pic>
        <p:nvPicPr>
          <p:cNvPr id="9" name="Image 1" descr="Search">    </p:cNvPr>
          <p:cNvPicPr>
            <a:picLocks noChangeAspect="1"/>
          </p:cNvPicPr>
          <p:nvPr/>
        </p:nvPicPr>
        <p:blipFill>
          <a:blip r:embed="rId2"/>
          <a:srcRect l="0" r="0" t="0" b="0"/>
          <a:stretch/>
        </p:blipFill>
        <p:spPr>
          <a:xfrm>
            <a:off x="3727450" y="2109470"/>
            <a:ext cx="355600" cy="355600"/>
          </a:xfrm>
          <a:prstGeom prst="rect">
            <a:avLst/>
          </a:prstGeom>
        </p:spPr>
      </p:pic>
      <p:sp>
        <p:nvSpPr>
          <p:cNvPr id="10" name="Text 6"/>
          <p:cNvSpPr/>
          <p:nvPr/>
        </p:nvSpPr>
        <p:spPr>
          <a:xfrm>
            <a:off x="3727450" y="2566670"/>
            <a:ext cx="211912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Piirväärtused</a:t>
            </a:r>
            <a:endParaRPr lang="en-US" sz="1600" dirty="0"/>
          </a:p>
        </p:txBody>
      </p:sp>
      <p:sp>
        <p:nvSpPr>
          <p:cNvPr id="11" name="Text 7"/>
          <p:cNvSpPr/>
          <p:nvPr/>
        </p:nvSpPr>
        <p:spPr>
          <a:xfrm>
            <a:off x="3727450" y="2912111"/>
            <a:ext cx="211912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Väärtus piiril ja üle selle: 200 märki lubatud, 201 mitte</a:t>
            </a:r>
            <a:endParaRPr lang="en-US" sz="1300" dirty="0"/>
          </a:p>
        </p:txBody>
      </p:sp>
      <p:sp>
        <p:nvSpPr>
          <p:cNvPr id="12" name="Shape 8"/>
          <p:cNvSpPr/>
          <p:nvPr/>
        </p:nvSpPr>
        <p:spPr>
          <a:xfrm>
            <a:off x="6175375" y="1877695"/>
            <a:ext cx="2520950" cy="2203450"/>
          </a:xfrm>
          <a:prstGeom prst="roundRect">
            <a:avLst>
              <a:gd name="adj" fmla="val 4467"/>
            </a:avLst>
          </a:prstGeom>
          <a:solidFill>
            <a:srgbClr val="FFFFFF"/>
          </a:solidFill>
          <a:ln w="6350">
            <a:solidFill>
              <a:srgbClr val="E2E4EA"/>
            </a:solidFill>
            <a:prstDash val="solid"/>
          </a:ln>
        </p:spPr>
      </p:sp>
      <p:pic>
        <p:nvPicPr>
          <p:cNvPr id="13" name="Image 2" descr="Code">    </p:cNvPr>
          <p:cNvPicPr>
            <a:picLocks noChangeAspect="1"/>
          </p:cNvPicPr>
          <p:nvPr/>
        </p:nvPicPr>
        <p:blipFill>
          <a:blip r:embed="rId3"/>
          <a:srcRect l="0" r="0" t="0" b="0"/>
          <a:stretch/>
        </p:blipFill>
        <p:spPr>
          <a:xfrm>
            <a:off x="6407150" y="2109470"/>
            <a:ext cx="355600" cy="355600"/>
          </a:xfrm>
          <a:prstGeom prst="rect">
            <a:avLst/>
          </a:prstGeom>
        </p:spPr>
      </p:pic>
      <p:sp>
        <p:nvSpPr>
          <p:cNvPr id="14" name="Text 9"/>
          <p:cNvSpPr/>
          <p:nvPr/>
        </p:nvSpPr>
        <p:spPr>
          <a:xfrm>
            <a:off x="6407150" y="2566670"/>
            <a:ext cx="2119122"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Koodi-</a:t>
            </a:r>
            <a:endParaRPr lang="en-US" sz="1600" dirty="0"/>
          </a:p>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ülevaatus</a:t>
            </a:r>
            <a:endParaRPr lang="en-US" sz="1600" dirty="0"/>
          </a:p>
        </p:txBody>
      </p:sp>
      <p:sp>
        <p:nvSpPr>
          <p:cNvPr id="15" name="Text 10"/>
          <p:cNvSpPr/>
          <p:nvPr/>
        </p:nvSpPr>
        <p:spPr>
          <a:xfrm>
            <a:off x="6407150" y="3155950"/>
            <a:ext cx="21191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Lugesin autori koodi ja hindasin kvaliteeti</a:t>
            </a:r>
            <a:endParaRPr lang="en-US" sz="1300" dirty="0"/>
          </a:p>
        </p:txBody>
      </p:sp>
      <p:sp>
        <p:nvSpPr>
          <p:cNvPr id="16" name="Shape 11"/>
          <p:cNvSpPr/>
          <p:nvPr/>
        </p:nvSpPr>
        <p:spPr>
          <a:xfrm>
            <a:off x="8855075" y="1877695"/>
            <a:ext cx="2520950" cy="2203450"/>
          </a:xfrm>
          <a:prstGeom prst="roundRect">
            <a:avLst>
              <a:gd name="adj" fmla="val 4467"/>
            </a:avLst>
          </a:prstGeom>
          <a:solidFill>
            <a:srgbClr val="FFFFFF"/>
          </a:solidFill>
          <a:ln w="6350">
            <a:solidFill>
              <a:srgbClr val="E2E4EA"/>
            </a:solidFill>
            <a:prstDash val="solid"/>
          </a:ln>
        </p:spPr>
      </p:sp>
      <p:pic>
        <p:nvPicPr>
          <p:cNvPr id="17" name="Image 3" descr="Check">    </p:cNvPr>
          <p:cNvPicPr>
            <a:picLocks noChangeAspect="1"/>
          </p:cNvPicPr>
          <p:nvPr/>
        </p:nvPicPr>
        <p:blipFill>
          <a:blip r:embed="rId4"/>
          <a:srcRect l="0" r="0" t="0" b="0"/>
          <a:stretch/>
        </p:blipFill>
        <p:spPr>
          <a:xfrm>
            <a:off x="9086850" y="2109470"/>
            <a:ext cx="355600" cy="355600"/>
          </a:xfrm>
          <a:prstGeom prst="rect">
            <a:avLst/>
          </a:prstGeom>
        </p:spPr>
      </p:pic>
      <p:sp>
        <p:nvSpPr>
          <p:cNvPr id="18" name="Text 12"/>
          <p:cNvSpPr/>
          <p:nvPr/>
        </p:nvSpPr>
        <p:spPr>
          <a:xfrm>
            <a:off x="9086850" y="2566670"/>
            <a:ext cx="211912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Ühiktestid</a:t>
            </a:r>
            <a:endParaRPr lang="en-US" sz="1600" dirty="0"/>
          </a:p>
        </p:txBody>
      </p:sp>
      <p:sp>
        <p:nvSpPr>
          <p:cNvPr id="19" name="Text 13"/>
          <p:cNvSpPr/>
          <p:nvPr/>
        </p:nvSpPr>
        <p:spPr>
          <a:xfrm>
            <a:off x="9086850" y="2912111"/>
            <a:ext cx="21191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Kirjutasin matemaatikale oma xUnit-testid</a:t>
            </a:r>
            <a:endParaRPr lang="en-US" sz="1300" dirty="0"/>
          </a:p>
        </p:txBody>
      </p:sp>
      <p:sp>
        <p:nvSpPr>
          <p:cNvPr id="20" name="Text 14"/>
          <p:cNvSpPr/>
          <p:nvPr/>
        </p:nvSpPr>
        <p:spPr>
          <a:xfrm>
            <a:off x="812800" y="4452620"/>
            <a:ext cx="110659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Rubik" pitchFamily="34" charset="0"/>
                <a:ea typeface="Rubik" pitchFamily="34" charset="-122"/>
                <a:cs typeface="Rubik" pitchFamily="34" charset="-120"/>
              </a:rPr>
              <a:t>Staatused:</a:t>
            </a:r>
            <a:endParaRPr lang="en-US" sz="1400" dirty="0"/>
          </a:p>
        </p:txBody>
      </p:sp>
      <p:sp>
        <p:nvSpPr>
          <p:cNvPr id="21" name="Text 15"/>
          <p:cNvSpPr/>
          <p:nvPr/>
        </p:nvSpPr>
        <p:spPr>
          <a:xfrm>
            <a:off x="1919393" y="4389120"/>
            <a:ext cx="1284499" cy="375920"/>
          </a:xfrm>
          <a:prstGeom prst="roundRect">
            <a:avLst>
              <a:gd name="adj" fmla="val 50000"/>
            </a:avLst>
          </a:prstGeom>
          <a:solidFill>
            <a:srgbClr val="DCEBDD"/>
          </a:solidFill>
          <a:ln/>
        </p:spPr>
        <p:txBody>
          <a:bodyPr wrap="none" lIns="0" tIns="0" rIns="0" bIns="0" rtlCol="0" anchor="ctr">
            <a:normAutofit/>
          </a:bodyPr>
          <a:lstStyle/>
          <a:p>
            <a:pPr algn="ctr" indent="0" marL="0">
              <a:lnSpc>
                <a:spcPts val="1960"/>
              </a:lnSpc>
              <a:buNone/>
            </a:pPr>
            <a:r>
              <a:rPr lang="en-US" sz="1400" b="1" dirty="0">
                <a:solidFill>
                  <a:srgbClr val="1F5130"/>
                </a:solidFill>
                <a:latin typeface="Rubik" pitchFamily="34" charset="0"/>
                <a:ea typeface="Rubik" pitchFamily="34" charset="-122"/>
                <a:cs typeface="Rubik" pitchFamily="34" charset="-120"/>
              </a:rPr>
              <a:t>OK</a:t>
            </a:r>
            <a:r>
              <a:rPr lang="en-US" sz="1400" dirty="0">
                <a:solidFill>
                  <a:srgbClr val="1F5130"/>
                </a:solidFill>
                <a:latin typeface="Rubik" pitchFamily="34" charset="0"/>
                <a:ea typeface="Rubik" pitchFamily="34" charset="-122"/>
                <a:cs typeface="Rubik" pitchFamily="34" charset="-120"/>
              </a:rPr>
              <a:t> – töötab</a:t>
            </a:r>
            <a:endParaRPr lang="en-US" sz="1400" dirty="0"/>
          </a:p>
        </p:txBody>
      </p:sp>
      <p:sp>
        <p:nvSpPr>
          <p:cNvPr id="22" name="Text 16"/>
          <p:cNvSpPr/>
          <p:nvPr/>
        </p:nvSpPr>
        <p:spPr>
          <a:xfrm>
            <a:off x="3356292" y="4389120"/>
            <a:ext cx="3733483" cy="375920"/>
          </a:xfrm>
          <a:prstGeom prst="roundRect">
            <a:avLst>
              <a:gd name="adj" fmla="val 50000"/>
            </a:avLst>
          </a:prstGeom>
          <a:solidFill>
            <a:srgbClr val="FBE8C8"/>
          </a:solidFill>
          <a:ln/>
        </p:spPr>
        <p:txBody>
          <a:bodyPr wrap="none" lIns="0" tIns="0" rIns="0" bIns="0" rtlCol="0" anchor="ctr">
            <a:normAutofit/>
          </a:bodyPr>
          <a:lstStyle/>
          <a:p>
            <a:pPr algn="ctr" indent="0" marL="0">
              <a:lnSpc>
                <a:spcPts val="1960"/>
              </a:lnSpc>
              <a:buNone/>
            </a:pPr>
            <a:r>
              <a:rPr lang="en-US" sz="1400" b="1" dirty="0">
                <a:solidFill>
                  <a:srgbClr val="7A4A06"/>
                </a:solidFill>
                <a:latin typeface="Rubik" pitchFamily="34" charset="0"/>
                <a:ea typeface="Rubik" pitchFamily="34" charset="-122"/>
                <a:cs typeface="Rubik" pitchFamily="34" charset="-120"/>
              </a:rPr>
              <a:t>OSALINE</a:t>
            </a:r>
            <a:r>
              <a:rPr lang="en-US" sz="1400" dirty="0">
                <a:solidFill>
                  <a:srgbClr val="7A4A06"/>
                </a:solidFill>
                <a:latin typeface="Rubik" pitchFamily="34" charset="0"/>
                <a:ea typeface="Rubik" pitchFamily="34" charset="-122"/>
                <a:cs typeface="Rubik" pitchFamily="34" charset="-120"/>
              </a:rPr>
              <a:t> – töötab, aga mitte päris õigesti</a:t>
            </a:r>
            <a:endParaRPr lang="en-US" sz="1400" dirty="0"/>
          </a:p>
        </p:txBody>
      </p:sp>
      <p:sp>
        <p:nvSpPr>
          <p:cNvPr id="23" name="Text 17"/>
          <p:cNvSpPr/>
          <p:nvPr/>
        </p:nvSpPr>
        <p:spPr>
          <a:xfrm>
            <a:off x="7242175" y="4389120"/>
            <a:ext cx="1554057" cy="375920"/>
          </a:xfrm>
          <a:prstGeom prst="roundRect">
            <a:avLst>
              <a:gd name="adj" fmla="val 50000"/>
            </a:avLst>
          </a:prstGeom>
          <a:solidFill>
            <a:srgbClr val="F8D9D4"/>
          </a:solidFill>
          <a:ln/>
        </p:spPr>
        <p:txBody>
          <a:bodyPr wrap="none" lIns="0" tIns="0" rIns="0" bIns="0" rtlCol="0" anchor="ctr">
            <a:normAutofit/>
          </a:bodyPr>
          <a:lstStyle/>
          <a:p>
            <a:pPr algn="ctr" indent="0" marL="0">
              <a:lnSpc>
                <a:spcPts val="1960"/>
              </a:lnSpc>
              <a:buNone/>
            </a:pPr>
            <a:r>
              <a:rPr lang="en-US" sz="1400" b="1" dirty="0">
                <a:solidFill>
                  <a:srgbClr val="8A2416"/>
                </a:solidFill>
                <a:latin typeface="Rubik" pitchFamily="34" charset="0"/>
                <a:ea typeface="Rubik" pitchFamily="34" charset="-122"/>
                <a:cs typeface="Rubik" pitchFamily="34" charset="-120"/>
              </a:rPr>
              <a:t>VIGA</a:t>
            </a:r>
            <a:r>
              <a:rPr lang="en-US" sz="1400" dirty="0">
                <a:solidFill>
                  <a:srgbClr val="8A2416"/>
                </a:solidFill>
                <a:latin typeface="Rubik" pitchFamily="34" charset="0"/>
                <a:ea typeface="Rubik" pitchFamily="34" charset="-122"/>
                <a:cs typeface="Rubik" pitchFamily="34" charset="-120"/>
              </a:rPr>
              <a:t> – ei tööta</a:t>
            </a:r>
            <a:endParaRPr lang="en-US" sz="1400" dirty="0"/>
          </a:p>
        </p:txBody>
      </p:sp>
      <p:sp>
        <p:nvSpPr>
          <p:cNvPr id="24" name="Text 18"/>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PAIGALDAMINE</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Käivitamine README järgi</a:t>
            </a:r>
            <a:endParaRPr lang="en-US" sz="3200" dirty="0"/>
          </a:p>
        </p:txBody>
      </p:sp>
      <p:sp>
        <p:nvSpPr>
          <p:cNvPr id="4" name="Shape 2"/>
          <p:cNvSpPr/>
          <p:nvPr/>
        </p:nvSpPr>
        <p:spPr>
          <a:xfrm>
            <a:off x="812800" y="1874520"/>
            <a:ext cx="5715000" cy="2192020"/>
          </a:xfrm>
          <a:prstGeom prst="roundRect">
            <a:avLst>
              <a:gd name="adj" fmla="val 3476"/>
            </a:avLst>
          </a:prstGeom>
          <a:solidFill>
            <a:srgbClr val="FFFFFF"/>
          </a:solidFill>
          <a:ln/>
        </p:spPr>
      </p:sp>
      <p:sp>
        <p:nvSpPr>
          <p:cNvPr id="5" name="Shape 3"/>
          <p:cNvSpPr/>
          <p:nvPr/>
        </p:nvSpPr>
        <p:spPr>
          <a:xfrm>
            <a:off x="812800" y="1874520"/>
            <a:ext cx="5715000" cy="2192020"/>
          </a:xfrm>
          <a:custGeom>
            <a:avLst/>
            <a:gdLst/>
            <a:ahLst/>
            <a:cxnLst/>
            <a:rect l="l" t="t" r="r" b="b"/>
            <a:pathLst>
              <a:path w="5715000" h="2192020">
                <a:moveTo>
                  <a:pt x="76200" y="2192020"/>
                </a:moveTo>
                <a:lnTo>
                  <a:pt x="76200" y="2192020"/>
                </a:lnTo>
                <a:arcTo hR="76200" wR="76200" stAng="5400000" swAng="5400000"/>
                <a:lnTo>
                  <a:pt x="0" y="76200"/>
                </a:lnTo>
                <a:arcTo hR="76200" wR="76200" stAng="10800000" swAng="5400000"/>
                <a:lnTo>
                  <a:pt x="5638800" y="0"/>
                </a:lnTo>
                <a:arcTo hR="76200" wR="76200" stAng="16200000" swAng="5400000"/>
                <a:lnTo>
                  <a:pt x="5715000" y="76200"/>
                </a:lnTo>
                <a:arcTo hR="63500" wR="76200" stAng="0" swAng="-5400000"/>
                <a:lnTo>
                  <a:pt x="76200" y="12700"/>
                </a:lnTo>
                <a:arcTo hR="63500" wR="63500" stAng="16200000" swAng="-5400000"/>
                <a:lnTo>
                  <a:pt x="12700" y="2115820"/>
                </a:lnTo>
                <a:arcTo hR="76200" wR="63500" stAng="10800000" swAng="-5400000"/>
                <a:close/>
              </a:path>
            </a:pathLst>
          </a:custGeom>
          <a:solidFill>
            <a:srgbClr val="141413">
              <a:alpha val="22000"/>
            </a:srgbClr>
          </a:solidFill>
          <a:ln/>
        </p:spPr>
      </p:sp>
      <p:sp>
        <p:nvSpPr>
          <p:cNvPr id="6" name="Shape 4"/>
          <p:cNvSpPr/>
          <p:nvPr/>
        </p:nvSpPr>
        <p:spPr>
          <a:xfrm>
            <a:off x="825500" y="1887220"/>
            <a:ext cx="5702300" cy="386080"/>
          </a:xfrm>
          <a:custGeom>
            <a:avLst/>
            <a:gdLst/>
            <a:ahLst/>
            <a:cxnLst/>
            <a:rect l="l" t="t" r="r" b="b"/>
            <a:pathLst>
              <a:path w="5702300" h="386080">
                <a:moveTo>
                  <a:pt x="0" y="63500"/>
                </a:moveTo>
                <a:arcTo hR="63500" wR="63500" stAng="10800000" swAng="5400000"/>
                <a:lnTo>
                  <a:pt x="5626100" y="0"/>
                </a:lnTo>
                <a:arcTo hR="76200" wR="76200" stAng="16200000" swAng="5400000"/>
                <a:lnTo>
                  <a:pt x="5702300" y="386080"/>
                </a:lnTo>
                <a:lnTo>
                  <a:pt x="0" y="386080"/>
                </a:lnTo>
                <a:close/>
              </a:path>
            </a:pathLst>
          </a:custGeom>
          <a:solidFill>
            <a:srgbClr val="ECECEC"/>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87220"/>
          <a:ext cx="5702300" cy="2179320"/>
        </p:xfrm>
        <a:graphic>
          <a:graphicData uri="http://schemas.openxmlformats.org/drawingml/2006/table">
            <a:tbl>
              <a:tblPr/>
              <a:tblGrid>
                <a:gridCol w="2166874"/>
                <a:gridCol w="3535426"/>
              </a:tblGrid>
              <a:tr h="386080">
                <a:tc>
                  <a:txBody>
                    <a:bodyPr/>
                    <a:lstStyle/>
                    <a:p>
                      <a:pPr indent="0" marL="0">
                        <a:lnSpc>
                          <a:spcPts val="1960"/>
                        </a:lnSpc>
                        <a:buNone/>
                      </a:pPr>
                      <a:r>
                        <a:rPr lang="en-US" sz="1400" b="1" dirty="0">
                          <a:solidFill>
                            <a:srgbClr val="14213D"/>
                          </a:solidFill>
                          <a:latin typeface="Rubik" pitchFamily="34" charset="0"/>
                          <a:ea typeface="Rubik" pitchFamily="34" charset="-122"/>
                          <a:cs typeface="Rubik" pitchFamily="34" charset="-120"/>
                        </a:rPr>
                        <a:t>Samm</a:t>
                      </a:r>
                      <a:endParaRPr lang="en-US" sz="1400" dirty="0">
                        <a:latin typeface="Rubik" charset="0"/>
                        <a:ea typeface="Rubik" charset="0"/>
                        <a:cs typeface="Rubik"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indent="0" marL="0">
                        <a:lnSpc>
                          <a:spcPts val="1960"/>
                        </a:lnSpc>
                        <a:buNone/>
                      </a:pPr>
                      <a:r>
                        <a:rPr lang="en-US" sz="1400" b="1" dirty="0">
                          <a:solidFill>
                            <a:srgbClr val="14213D"/>
                          </a:solidFill>
                          <a:latin typeface="Rubik" pitchFamily="34" charset="0"/>
                          <a:ea typeface="Rubik" pitchFamily="34" charset="-122"/>
                          <a:cs typeface="Rubik" pitchFamily="34" charset="-120"/>
                        </a:rPr>
                        <a:t>Tulemus</a:t>
                      </a:r>
                      <a:endParaRPr lang="en-US" sz="1400" dirty="0">
                        <a:latin typeface="Rubik" charset="0"/>
                        <a:ea typeface="Rubik" charset="0"/>
                        <a:cs typeface="Rubik"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npm install</a:t>
                      </a:r>
                      <a:endParaRPr lang="en-US" sz="1400" dirty="0">
                        <a:latin typeface="Rubik" charset="0"/>
                        <a:ea typeface="Rubik" charset="0"/>
                        <a:cs typeface="Rubik"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OK</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npm run dev</a:t>
                      </a:r>
                      <a:endParaRPr lang="en-US" sz="1400" dirty="0">
                        <a:latin typeface="Rubik" charset="0"/>
                        <a:ea typeface="Rubik" charset="0"/>
                        <a:cs typeface="Rubik"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Kooli arvuti keelas, käivitasin eraldi</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3500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dotnet build</a:t>
                      </a:r>
                      <a:endParaRPr lang="en-US" sz="1400" dirty="0">
                        <a:latin typeface="Rubik" charset="0"/>
                        <a:ea typeface="Rubik" charset="0"/>
                        <a:cs typeface="Rubik" charset="0"/>
                      </a:endParaRPr>
                    </a:p>
                  </a:txBody>
                  <a:tcPr marL="62230" marR="62230" marT="62230" marB="62230" anchor="t">
                    <a:lnL w="0" cap="flat" cmpd="sng" algn="ctr">
                      <a:noFill/>
                    </a:lnL>
                    <a:lnR w="12700" cap="flat" cmpd="sng" algn="ctr">
                      <a:solidFill>
                        <a:srgbClr val="C9BD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Viga V-01: nõuab SDK 10.0.102, arvutis 10.0.100</a:t>
                      </a:r>
                      <a:endParaRPr lang="en-US" sz="1400" dirty="0">
                        <a:latin typeface="Rubik" charset="0"/>
                        <a:ea typeface="Rubik" charset="0"/>
                        <a:cs typeface="Rubik" charset="0"/>
                      </a:endParaRPr>
                    </a:p>
                  </a:txBody>
                  <a:tcPr marL="62230" marR="62230" marT="62230" marB="62230"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Andmebaas</a:t>
                      </a:r>
                      <a:endParaRPr lang="en-US" sz="1400" dirty="0">
                        <a:latin typeface="Rubik" charset="0"/>
                        <a:ea typeface="Rubik" charset="0"/>
                        <a:cs typeface="Rubik"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9BD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Tekib ise koos näidisandmetega</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D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Shape 5"/>
          <p:cNvSpPr/>
          <p:nvPr/>
        </p:nvSpPr>
        <p:spPr>
          <a:xfrm>
            <a:off x="6832600" y="1874520"/>
            <a:ext cx="4546600" cy="1657350"/>
          </a:xfrm>
          <a:prstGeom prst="roundRect">
            <a:avLst>
              <a:gd name="adj" fmla="val 4598"/>
            </a:avLst>
          </a:prstGeom>
          <a:solidFill>
            <a:srgbClr val="FFFFFF"/>
          </a:solidFill>
          <a:ln/>
        </p:spPr>
      </p:sp>
      <p:pic>
        <p:nvPicPr>
          <p:cNvPr id="9" name="Image 0" descr="Töötava rakenduse avaleht">    </p:cNvPr>
          <p:cNvPicPr>
            <a:picLocks noChangeAspect="1"/>
          </p:cNvPicPr>
          <p:nvPr/>
        </p:nvPicPr>
        <p:blipFill>
          <a:blip r:embed="rId1"/>
          <a:srcRect l="-253" r="-253" t="0" b="0"/>
          <a:stretch/>
        </p:blipFill>
        <p:spPr>
          <a:xfrm>
            <a:off x="6838950" y="1880870"/>
            <a:ext cx="4533900" cy="1644650"/>
          </a:xfrm>
          <a:prstGeom prst="roundRect">
            <a:avLst>
              <a:gd name="adj" fmla="val 4247"/>
            </a:avLst>
          </a:prstGeom>
        </p:spPr>
      </p:pic>
      <p:sp>
        <p:nvSpPr>
          <p:cNvPr id="10" name="Shape 6"/>
          <p:cNvSpPr/>
          <p:nvPr/>
        </p:nvSpPr>
        <p:spPr>
          <a:xfrm>
            <a:off x="6835775" y="1877695"/>
            <a:ext cx="4540250" cy="1651000"/>
          </a:xfrm>
          <a:prstGeom prst="roundRect">
            <a:avLst>
              <a:gd name="adj" fmla="val 4423"/>
            </a:avLst>
          </a:prstGeom>
          <a:noFill/>
          <a:ln w="6350">
            <a:solidFill>
              <a:srgbClr val="E2E4EA"/>
            </a:solidFill>
            <a:prstDash val="solid"/>
          </a:ln>
        </p:spPr>
      </p:sp>
      <p:sp>
        <p:nvSpPr>
          <p:cNvPr id="11" name="Text 7"/>
          <p:cNvSpPr/>
          <p:nvPr/>
        </p:nvSpPr>
        <p:spPr>
          <a:xfrm>
            <a:off x="6832600" y="3633470"/>
            <a:ext cx="46829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Pärast SDK versiooni muutmist failis global.json töötas kõik.</a:t>
            </a:r>
            <a:endParaRPr lang="en-US" sz="1300" dirty="0"/>
          </a:p>
        </p:txBody>
      </p:sp>
      <p:sp>
        <p:nvSpPr>
          <p:cNvPr id="12" name="Text 8"/>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8F5"/>
                </a:solidFill>
                <a:latin typeface="Rubik" pitchFamily="34" charset="0"/>
                <a:ea typeface="Rubik" pitchFamily="34" charset="-122"/>
                <a:cs typeface="Rubik" pitchFamily="34" charset="-120"/>
              </a:rPr>
              <a:t>TULEMUSED</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5F1"/>
                </a:solidFill>
                <a:latin typeface="Rubik" pitchFamily="34" charset="0"/>
                <a:ea typeface="Rubik" pitchFamily="34" charset="-122"/>
                <a:cs typeface="Rubik" pitchFamily="34" charset="-120"/>
              </a:rPr>
              <a:t>Testimine numbrites</a:t>
            </a:r>
            <a:endParaRPr lang="en-US" sz="3200" dirty="0"/>
          </a:p>
        </p:txBody>
      </p:sp>
      <p:sp>
        <p:nvSpPr>
          <p:cNvPr id="4" name="Shape 2"/>
          <p:cNvSpPr/>
          <p:nvPr/>
        </p:nvSpPr>
        <p:spPr>
          <a:xfrm>
            <a:off x="812800" y="1988821"/>
            <a:ext cx="3386667" cy="0"/>
          </a:xfrm>
          <a:prstGeom prst="line">
            <a:avLst/>
          </a:prstGeom>
          <a:noFill/>
          <a:ln w="25400">
            <a:solidFill>
              <a:srgbClr val="8FA8F5"/>
            </a:solidFill>
            <a:prstDash val="solid"/>
          </a:ln>
        </p:spPr>
      </p:sp>
      <p:sp>
        <p:nvSpPr>
          <p:cNvPr id="5" name="Text 3"/>
          <p:cNvSpPr/>
          <p:nvPr/>
        </p:nvSpPr>
        <p:spPr>
          <a:xfrm>
            <a:off x="812800" y="2204721"/>
            <a:ext cx="3488267"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5F1"/>
                </a:solidFill>
                <a:latin typeface="Rubik" pitchFamily="34" charset="0"/>
                <a:ea typeface="Rubik" pitchFamily="34" charset="-122"/>
                <a:cs typeface="Rubik" pitchFamily="34" charset="-120"/>
              </a:rPr>
              <a:t>27</a:t>
            </a:r>
            <a:endParaRPr lang="en-US" sz="8000" dirty="0"/>
          </a:p>
        </p:txBody>
      </p:sp>
      <p:sp>
        <p:nvSpPr>
          <p:cNvPr id="6" name="Text 4"/>
          <p:cNvSpPr/>
          <p:nvPr/>
        </p:nvSpPr>
        <p:spPr>
          <a:xfrm>
            <a:off x="812800" y="3322321"/>
            <a:ext cx="3488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Rubik" pitchFamily="34" charset="0"/>
                <a:ea typeface="Rubik" pitchFamily="34" charset="-122"/>
                <a:cs typeface="Rubik" pitchFamily="34" charset="-120"/>
              </a:rPr>
              <a:t>testjuhtumit</a:t>
            </a:r>
            <a:endParaRPr lang="en-US" sz="2000" dirty="0"/>
          </a:p>
        </p:txBody>
      </p:sp>
      <p:sp>
        <p:nvSpPr>
          <p:cNvPr id="7" name="Text 5"/>
          <p:cNvSpPr/>
          <p:nvPr/>
        </p:nvSpPr>
        <p:spPr>
          <a:xfrm>
            <a:off x="812800" y="3728721"/>
            <a:ext cx="348826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A"/>
                </a:solidFill>
                <a:latin typeface="Rubik" pitchFamily="34" charset="0"/>
                <a:ea typeface="Rubik" pitchFamily="34" charset="-122"/>
                <a:cs typeface="Rubik" pitchFamily="34" charset="-120"/>
              </a:rPr>
              <a:t>21 OK · 4 osaline · 2 viga</a:t>
            </a:r>
            <a:endParaRPr lang="en-US" sz="1500" dirty="0"/>
          </a:p>
        </p:txBody>
      </p:sp>
      <p:sp>
        <p:nvSpPr>
          <p:cNvPr id="8" name="Shape 6"/>
          <p:cNvSpPr/>
          <p:nvPr/>
        </p:nvSpPr>
        <p:spPr>
          <a:xfrm>
            <a:off x="4402667" y="1988821"/>
            <a:ext cx="3386667" cy="0"/>
          </a:xfrm>
          <a:prstGeom prst="line">
            <a:avLst/>
          </a:prstGeom>
          <a:noFill/>
          <a:ln w="25400">
            <a:solidFill>
              <a:srgbClr val="F2A65A"/>
            </a:solidFill>
            <a:prstDash val="solid"/>
          </a:ln>
        </p:spPr>
      </p:sp>
      <p:sp>
        <p:nvSpPr>
          <p:cNvPr id="9" name="Text 7"/>
          <p:cNvSpPr/>
          <p:nvPr/>
        </p:nvSpPr>
        <p:spPr>
          <a:xfrm>
            <a:off x="4402667" y="2204721"/>
            <a:ext cx="3488267"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5F1"/>
                </a:solidFill>
                <a:latin typeface="Rubik" pitchFamily="34" charset="0"/>
                <a:ea typeface="Rubik" pitchFamily="34" charset="-122"/>
                <a:cs typeface="Rubik" pitchFamily="34" charset="-120"/>
              </a:rPr>
              <a:t>10</a:t>
            </a:r>
            <a:endParaRPr lang="en-US" sz="8000" dirty="0"/>
          </a:p>
        </p:txBody>
      </p:sp>
      <p:sp>
        <p:nvSpPr>
          <p:cNvPr id="10" name="Text 8"/>
          <p:cNvSpPr/>
          <p:nvPr/>
        </p:nvSpPr>
        <p:spPr>
          <a:xfrm>
            <a:off x="4402667" y="3322321"/>
            <a:ext cx="3488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Rubik" pitchFamily="34" charset="0"/>
                <a:ea typeface="Rubik" pitchFamily="34" charset="-122"/>
                <a:cs typeface="Rubik" pitchFamily="34" charset="-120"/>
              </a:rPr>
              <a:t>leitud viga</a:t>
            </a:r>
            <a:endParaRPr lang="en-US" sz="2000" dirty="0"/>
          </a:p>
        </p:txBody>
      </p:sp>
      <p:sp>
        <p:nvSpPr>
          <p:cNvPr id="11" name="Text 9"/>
          <p:cNvSpPr/>
          <p:nvPr/>
        </p:nvSpPr>
        <p:spPr>
          <a:xfrm>
            <a:off x="4402667" y="3728721"/>
            <a:ext cx="348826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A"/>
                </a:solidFill>
                <a:latin typeface="Rubik" pitchFamily="34" charset="0"/>
                <a:ea typeface="Rubik" pitchFamily="34" charset="-122"/>
                <a:cs typeface="Rubik" pitchFamily="34" charset="-120"/>
              </a:rPr>
              <a:t>3 keskmist · 7 madalat · 0 kriitilist</a:t>
            </a:r>
            <a:endParaRPr lang="en-US" sz="1500" dirty="0"/>
          </a:p>
        </p:txBody>
      </p:sp>
      <p:sp>
        <p:nvSpPr>
          <p:cNvPr id="12" name="Shape 10"/>
          <p:cNvSpPr/>
          <p:nvPr/>
        </p:nvSpPr>
        <p:spPr>
          <a:xfrm>
            <a:off x="7992533" y="1988821"/>
            <a:ext cx="3386667" cy="0"/>
          </a:xfrm>
          <a:prstGeom prst="line">
            <a:avLst/>
          </a:prstGeom>
          <a:noFill/>
          <a:ln w="25400">
            <a:solidFill>
              <a:srgbClr val="8FD3A5"/>
            </a:solidFill>
            <a:prstDash val="solid"/>
          </a:ln>
        </p:spPr>
      </p:sp>
      <p:sp>
        <p:nvSpPr>
          <p:cNvPr id="13" name="Text 11"/>
          <p:cNvSpPr/>
          <p:nvPr/>
        </p:nvSpPr>
        <p:spPr>
          <a:xfrm>
            <a:off x="7992533" y="2204721"/>
            <a:ext cx="3488267"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5F1"/>
                </a:solidFill>
                <a:latin typeface="Rubik" pitchFamily="34" charset="0"/>
                <a:ea typeface="Rubik" pitchFamily="34" charset="-122"/>
                <a:cs typeface="Rubik" pitchFamily="34" charset="-120"/>
              </a:rPr>
              <a:t>86</a:t>
            </a:r>
            <a:endParaRPr lang="en-US" sz="8000" dirty="0"/>
          </a:p>
        </p:txBody>
      </p:sp>
      <p:sp>
        <p:nvSpPr>
          <p:cNvPr id="14" name="Text 12"/>
          <p:cNvSpPr/>
          <p:nvPr/>
        </p:nvSpPr>
        <p:spPr>
          <a:xfrm>
            <a:off x="7992533" y="3322321"/>
            <a:ext cx="3488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Rubik" pitchFamily="34" charset="0"/>
                <a:ea typeface="Rubik" pitchFamily="34" charset="-122"/>
                <a:cs typeface="Rubik" pitchFamily="34" charset="-120"/>
              </a:rPr>
              <a:t>automaattesti läbitud</a:t>
            </a:r>
            <a:endParaRPr lang="en-US" sz="2000" dirty="0"/>
          </a:p>
        </p:txBody>
      </p:sp>
      <p:sp>
        <p:nvSpPr>
          <p:cNvPr id="15" name="Text 13"/>
          <p:cNvSpPr/>
          <p:nvPr/>
        </p:nvSpPr>
        <p:spPr>
          <a:xfrm>
            <a:off x="7992533" y="3728721"/>
            <a:ext cx="348826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A"/>
                </a:solidFill>
                <a:latin typeface="Rubik" pitchFamily="34" charset="0"/>
                <a:ea typeface="Rubik" pitchFamily="34" charset="-122"/>
                <a:cs typeface="Rubik" pitchFamily="34" charset="-120"/>
              </a:rPr>
              <a:t>82 autori testi + 4 minu testi</a:t>
            </a:r>
            <a:endParaRPr lang="en-US" sz="1500" dirty="0"/>
          </a:p>
        </p:txBody>
      </p:sp>
      <p:sp>
        <p:nvSpPr>
          <p:cNvPr id="16" name="Text 14"/>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Rubik" pitchFamily="34" charset="0"/>
                <a:ea typeface="Rubik" pitchFamily="34" charset="-122"/>
                <a:cs typeface="Rubik"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ARUANDE TABELID</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Kuidas lugeda testjuhtumi tabelit</a:t>
            </a:r>
            <a:endParaRPr lang="en-US" sz="3200" dirty="0"/>
          </a:p>
        </p:txBody>
      </p:sp>
      <p:sp>
        <p:nvSpPr>
          <p:cNvPr id="4" name="Shape 2"/>
          <p:cNvSpPr/>
          <p:nvPr/>
        </p:nvSpPr>
        <p:spPr>
          <a:xfrm>
            <a:off x="812800" y="1874521"/>
            <a:ext cx="10566400" cy="96266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87221"/>
          <a:ext cx="10553700" cy="949960"/>
        </p:xfrm>
        <a:graphic>
          <a:graphicData uri="http://schemas.openxmlformats.org/drawingml/2006/table">
            <a:tbl>
              <a:tblPr/>
              <a:tblGrid>
                <a:gridCol w="949833"/>
                <a:gridCol w="1266444"/>
                <a:gridCol w="2110740"/>
                <a:gridCol w="949833"/>
                <a:gridCol w="1794129"/>
                <a:gridCol w="1899666"/>
                <a:gridCol w="1583055"/>
              </a:tblGrid>
              <a:tr h="359410">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ID</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Eeltingimus</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Sammud</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Sisend</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Oodatav tulemus</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Tegelik tulemus</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Staatus</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9055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TJ-13</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Töötab</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Topeltklõps „Salvesta“</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0</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Salvestub üks kirje</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Tekkis mitu ühesugust kirjet</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VIGA (V-03)</a:t>
                      </a:r>
                      <a:endParaRPr lang="en-US" sz="1300" dirty="0">
                        <a:latin typeface="Rubik" charset="0"/>
                        <a:ea typeface="Rubik" charset="0"/>
                        <a:cs typeface="Rubik" charset="0"/>
                      </a:endParaRPr>
                    </a:p>
                  </a:txBody>
                  <a:tcPr marL="57785" marR="57785" marT="57785" marB="57785" anchor="t">
                    <a:lnL w="12700" cap="flat" cmpd="sng" algn="ctr">
                      <a:solidFill>
                        <a:srgbClr val="C9BDBB"/>
                      </a:solidFill>
                      <a:prstDash val="solid"/>
                      <a:round/>
                      <a:headEnd type="none" w="med" len="med"/>
                      <a:tailEnd type="none" w="med" len="med"/>
                    </a:lnL>
                    <a:lnR w="12700" cap="flat" cmpd="sng" algn="ctr">
                      <a:solidFill>
                        <a:srgbClr val="C9BDB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DBB"/>
                      </a:solidFill>
                      <a:prstDash val="solid"/>
                      <a:round/>
                      <a:headEnd type="none" w="med" len="med"/>
                      <a:tailEnd type="none" w="med" len="med"/>
                    </a:lnB>
                    <a:solidFill>
                      <a:srgbClr val="FCEDEA"/>
                    </a:solidFill>
                  </a:tcPr>
                </a:tc>
              </a:tr>
            </a:tbl>
          </a:graphicData>
        </a:graphic>
      </p:graphicFrame>
      <p:sp>
        <p:nvSpPr>
          <p:cNvPr id="6" name="Shape 3"/>
          <p:cNvSpPr/>
          <p:nvPr/>
        </p:nvSpPr>
        <p:spPr>
          <a:xfrm>
            <a:off x="815975" y="3145154"/>
            <a:ext cx="3414183" cy="1195070"/>
          </a:xfrm>
          <a:prstGeom prst="roundRect">
            <a:avLst>
              <a:gd name="adj" fmla="val 8236"/>
            </a:avLst>
          </a:prstGeom>
          <a:solidFill>
            <a:srgbClr val="FFFFFF"/>
          </a:solidFill>
          <a:ln w="6350">
            <a:solidFill>
              <a:srgbClr val="E2E4EA"/>
            </a:solidFill>
            <a:prstDash val="solid"/>
          </a:ln>
        </p:spPr>
      </p:sp>
      <p:sp>
        <p:nvSpPr>
          <p:cNvPr id="7" name="Text 4"/>
          <p:cNvSpPr/>
          <p:nvPr/>
        </p:nvSpPr>
        <p:spPr>
          <a:xfrm>
            <a:off x="1022350" y="3351529"/>
            <a:ext cx="30914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Mida tegin</a:t>
            </a:r>
            <a:endParaRPr lang="en-US" sz="1600" dirty="0"/>
          </a:p>
        </p:txBody>
      </p:sp>
      <p:sp>
        <p:nvSpPr>
          <p:cNvPr id="8" name="Text 5"/>
          <p:cNvSpPr/>
          <p:nvPr/>
        </p:nvSpPr>
        <p:spPr>
          <a:xfrm>
            <a:off x="1022350" y="3671571"/>
            <a:ext cx="309147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Eeltingimus, sammud ja sisend näitavad, kuidas testi korrata</a:t>
            </a:r>
            <a:endParaRPr lang="en-US" sz="1300" dirty="0"/>
          </a:p>
        </p:txBody>
      </p:sp>
      <p:sp>
        <p:nvSpPr>
          <p:cNvPr id="9" name="Shape 6"/>
          <p:cNvSpPr/>
          <p:nvPr/>
        </p:nvSpPr>
        <p:spPr>
          <a:xfrm>
            <a:off x="4388908" y="3145154"/>
            <a:ext cx="3414183" cy="1195070"/>
          </a:xfrm>
          <a:prstGeom prst="roundRect">
            <a:avLst>
              <a:gd name="adj" fmla="val 8236"/>
            </a:avLst>
          </a:prstGeom>
          <a:solidFill>
            <a:srgbClr val="FFFFFF"/>
          </a:solidFill>
          <a:ln w="6350">
            <a:solidFill>
              <a:srgbClr val="E2E4EA"/>
            </a:solidFill>
            <a:prstDash val="solid"/>
          </a:ln>
        </p:spPr>
      </p:sp>
      <p:sp>
        <p:nvSpPr>
          <p:cNvPr id="10" name="Text 7"/>
          <p:cNvSpPr/>
          <p:nvPr/>
        </p:nvSpPr>
        <p:spPr>
          <a:xfrm>
            <a:off x="4595283" y="3351529"/>
            <a:ext cx="30914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Oodatav vs tegelik</a:t>
            </a:r>
            <a:endParaRPr lang="en-US" sz="1600" dirty="0"/>
          </a:p>
        </p:txBody>
      </p:sp>
      <p:sp>
        <p:nvSpPr>
          <p:cNvPr id="11" name="Text 8"/>
          <p:cNvSpPr/>
          <p:nvPr/>
        </p:nvSpPr>
        <p:spPr>
          <a:xfrm>
            <a:off x="4595283" y="3671571"/>
            <a:ext cx="309147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Mis pidi juhtuma ja mis juhtus tegelikult</a:t>
            </a:r>
            <a:endParaRPr lang="en-US" sz="1300" dirty="0"/>
          </a:p>
        </p:txBody>
      </p:sp>
      <p:sp>
        <p:nvSpPr>
          <p:cNvPr id="12" name="Shape 9"/>
          <p:cNvSpPr/>
          <p:nvPr/>
        </p:nvSpPr>
        <p:spPr>
          <a:xfrm>
            <a:off x="7961842" y="3145154"/>
            <a:ext cx="3414183" cy="1195070"/>
          </a:xfrm>
          <a:prstGeom prst="roundRect">
            <a:avLst>
              <a:gd name="adj" fmla="val 8236"/>
            </a:avLst>
          </a:prstGeom>
          <a:solidFill>
            <a:srgbClr val="FFFFFF"/>
          </a:solidFill>
          <a:ln w="6350">
            <a:solidFill>
              <a:srgbClr val="E2E4EA"/>
            </a:solidFill>
            <a:prstDash val="solid"/>
          </a:ln>
        </p:spPr>
      </p:sp>
      <p:sp>
        <p:nvSpPr>
          <p:cNvPr id="13" name="Text 10"/>
          <p:cNvSpPr/>
          <p:nvPr/>
        </p:nvSpPr>
        <p:spPr>
          <a:xfrm>
            <a:off x="8168217" y="3351529"/>
            <a:ext cx="30914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Staatus</a:t>
            </a:r>
            <a:endParaRPr lang="en-US" sz="1600" dirty="0"/>
          </a:p>
        </p:txBody>
      </p:sp>
      <p:sp>
        <p:nvSpPr>
          <p:cNvPr id="14" name="Text 11"/>
          <p:cNvSpPr/>
          <p:nvPr/>
        </p:nvSpPr>
        <p:spPr>
          <a:xfrm>
            <a:off x="8168217" y="3671571"/>
            <a:ext cx="309147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OK, OSALINE või VIGA; vea korral viide vearaportile V-01…V-10</a:t>
            </a:r>
            <a:endParaRPr lang="en-US" sz="1300" dirty="0"/>
          </a:p>
        </p:txBody>
      </p:sp>
      <p:sp>
        <p:nvSpPr>
          <p:cNvPr id="15" name="Text 12"/>
          <p:cNvSpPr/>
          <p:nvPr/>
        </p:nvSpPr>
        <p:spPr>
          <a:xfrm>
            <a:off x="812800" y="4648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Tabelid on jaotatud viieks: CRUD, valideerimine, kasutajaliides, matemaatika ja boonus.</a:t>
            </a:r>
            <a:endParaRPr lang="en-US" sz="1400" dirty="0"/>
          </a:p>
        </p:txBody>
      </p:sp>
      <p:sp>
        <p:nvSpPr>
          <p:cNvPr id="16" name="Text 13"/>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Rubik" pitchFamily="34" charset="0"/>
                <a:ea typeface="Rubik" pitchFamily="34" charset="-122"/>
                <a:cs typeface="Rubik" pitchFamily="34" charset="-120"/>
              </a:rPr>
              <a:t>LEITUD VEAD</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Kaks peamist viga</a:t>
            </a:r>
            <a:endParaRPr lang="en-US" sz="3200" dirty="0"/>
          </a:p>
        </p:txBody>
      </p:sp>
      <p:sp>
        <p:nvSpPr>
          <p:cNvPr id="4" name="Text 2"/>
          <p:cNvSpPr/>
          <p:nvPr/>
        </p:nvSpPr>
        <p:spPr>
          <a:xfrm>
            <a:off x="812800" y="1874521"/>
            <a:ext cx="1615863" cy="350520"/>
          </a:xfrm>
          <a:prstGeom prst="roundRect">
            <a:avLst>
              <a:gd name="adj" fmla="val 50000"/>
            </a:avLst>
          </a:prstGeom>
          <a:solidFill>
            <a:srgbClr val="F8D9D4"/>
          </a:solidFill>
          <a:ln/>
        </p:spPr>
        <p:txBody>
          <a:bodyPr wrap="none" lIns="0" tIns="0" rIns="0" bIns="0" rtlCol="0" anchor="ctr">
            <a:normAutofit/>
          </a:bodyPr>
          <a:lstStyle/>
          <a:p>
            <a:pPr algn="ctr" indent="0" marL="0">
              <a:lnSpc>
                <a:spcPts val="1960"/>
              </a:lnSpc>
              <a:buNone/>
            </a:pPr>
            <a:r>
              <a:rPr lang="en-US" sz="1400" b="1" dirty="0">
                <a:solidFill>
                  <a:srgbClr val="8A2416"/>
                </a:solidFill>
                <a:latin typeface="Rubik" pitchFamily="34" charset="0"/>
                <a:ea typeface="Rubik" pitchFamily="34" charset="-122"/>
                <a:cs typeface="Rubik" pitchFamily="34" charset="-120"/>
              </a:rPr>
              <a:t>V-02</a:t>
            </a:r>
            <a:r>
              <a:rPr lang="en-US" sz="1400" dirty="0">
                <a:solidFill>
                  <a:srgbClr val="8A2416"/>
                </a:solidFill>
                <a:latin typeface="Rubik" pitchFamily="34" charset="0"/>
                <a:ea typeface="Rubik" pitchFamily="34" charset="-122"/>
                <a:cs typeface="Rubik" pitchFamily="34" charset="-120"/>
              </a:rPr>
              <a:t> · keskmine</a:t>
            </a:r>
            <a:endParaRPr lang="en-US" sz="1400" dirty="0"/>
          </a:p>
        </p:txBody>
      </p:sp>
      <p:sp>
        <p:nvSpPr>
          <p:cNvPr id="5" name="Text 3"/>
          <p:cNvSpPr/>
          <p:nvPr/>
        </p:nvSpPr>
        <p:spPr>
          <a:xfrm>
            <a:off x="812800" y="2352039"/>
            <a:ext cx="71683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Kirjet ei saa muuta</a:t>
            </a:r>
            <a:endParaRPr lang="en-US" sz="2000" dirty="0"/>
          </a:p>
        </p:txBody>
      </p:sp>
      <p:sp>
        <p:nvSpPr>
          <p:cNvPr id="6" name="Text 4"/>
          <p:cNvSpPr/>
          <p:nvPr/>
        </p:nvSpPr>
        <p:spPr>
          <a:xfrm>
            <a:off x="812800" y="2783839"/>
            <a:ext cx="71683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Detailvaates on ainult nupp „Kustuta“. API-s on muutmine olemas, aga kasutajaliideses mitte.</a:t>
            </a:r>
            <a:endParaRPr lang="en-US" sz="1400" dirty="0"/>
          </a:p>
        </p:txBody>
      </p:sp>
      <p:sp>
        <p:nvSpPr>
          <p:cNvPr id="7" name="Shape 5"/>
          <p:cNvSpPr/>
          <p:nvPr/>
        </p:nvSpPr>
        <p:spPr>
          <a:xfrm>
            <a:off x="812800" y="3408679"/>
            <a:ext cx="6350000" cy="1301750"/>
          </a:xfrm>
          <a:prstGeom prst="roundRect">
            <a:avLst>
              <a:gd name="adj" fmla="val 5854"/>
            </a:avLst>
          </a:prstGeom>
          <a:solidFill>
            <a:srgbClr val="FFFFFF"/>
          </a:solidFill>
          <a:ln/>
        </p:spPr>
      </p:sp>
      <p:pic>
        <p:nvPicPr>
          <p:cNvPr id="8" name="Image 0" descr="Detailvaade, kus on ainult nupp Kustuta">    </p:cNvPr>
          <p:cNvPicPr>
            <a:picLocks noChangeAspect="1"/>
          </p:cNvPicPr>
          <p:nvPr/>
        </p:nvPicPr>
        <p:blipFill>
          <a:blip r:embed="rId1"/>
          <a:srcRect l="-321" r="-321" t="0" b="0"/>
          <a:stretch/>
        </p:blipFill>
        <p:spPr>
          <a:xfrm>
            <a:off x="819150" y="3415029"/>
            <a:ext cx="6337300" cy="1289050"/>
          </a:xfrm>
          <a:prstGeom prst="roundRect">
            <a:avLst>
              <a:gd name="adj" fmla="val 5419"/>
            </a:avLst>
          </a:prstGeom>
        </p:spPr>
      </p:pic>
      <p:sp>
        <p:nvSpPr>
          <p:cNvPr id="9" name="Shape 6"/>
          <p:cNvSpPr/>
          <p:nvPr/>
        </p:nvSpPr>
        <p:spPr>
          <a:xfrm>
            <a:off x="815975" y="3411854"/>
            <a:ext cx="6343650" cy="1295400"/>
          </a:xfrm>
          <a:prstGeom prst="roundRect">
            <a:avLst>
              <a:gd name="adj" fmla="val 5637"/>
            </a:avLst>
          </a:prstGeom>
          <a:noFill/>
          <a:ln w="6350">
            <a:solidFill>
              <a:srgbClr val="E2E4EA"/>
            </a:solidFill>
            <a:prstDash val="solid"/>
          </a:ln>
        </p:spPr>
      </p:sp>
      <p:sp>
        <p:nvSpPr>
          <p:cNvPr id="10" name="Text 7"/>
          <p:cNvSpPr/>
          <p:nvPr/>
        </p:nvSpPr>
        <p:spPr>
          <a:xfrm>
            <a:off x="8077200" y="1874521"/>
            <a:ext cx="1617451" cy="350520"/>
          </a:xfrm>
          <a:prstGeom prst="roundRect">
            <a:avLst>
              <a:gd name="adj" fmla="val 50000"/>
            </a:avLst>
          </a:prstGeom>
          <a:solidFill>
            <a:srgbClr val="F8D9D4"/>
          </a:solidFill>
          <a:ln/>
        </p:spPr>
        <p:txBody>
          <a:bodyPr wrap="none" lIns="0" tIns="0" rIns="0" bIns="0" rtlCol="0" anchor="ctr">
            <a:normAutofit/>
          </a:bodyPr>
          <a:lstStyle/>
          <a:p>
            <a:pPr algn="ctr" indent="0" marL="0">
              <a:lnSpc>
                <a:spcPts val="1960"/>
              </a:lnSpc>
              <a:buNone/>
            </a:pPr>
            <a:r>
              <a:rPr lang="en-US" sz="1400" b="1" dirty="0">
                <a:solidFill>
                  <a:srgbClr val="8A2416"/>
                </a:solidFill>
                <a:latin typeface="Rubik" pitchFamily="34" charset="0"/>
                <a:ea typeface="Rubik" pitchFamily="34" charset="-122"/>
                <a:cs typeface="Rubik" pitchFamily="34" charset="-120"/>
              </a:rPr>
              <a:t>V-03</a:t>
            </a:r>
            <a:r>
              <a:rPr lang="en-US" sz="1400" dirty="0">
                <a:solidFill>
                  <a:srgbClr val="8A2416"/>
                </a:solidFill>
                <a:latin typeface="Rubik" pitchFamily="34" charset="0"/>
                <a:ea typeface="Rubik" pitchFamily="34" charset="-122"/>
                <a:cs typeface="Rubik" pitchFamily="34" charset="-120"/>
              </a:rPr>
              <a:t> · keskmine</a:t>
            </a:r>
            <a:endParaRPr lang="en-US" sz="1400" dirty="0"/>
          </a:p>
        </p:txBody>
      </p:sp>
      <p:sp>
        <p:nvSpPr>
          <p:cNvPr id="11" name="Text 8"/>
          <p:cNvSpPr/>
          <p:nvPr/>
        </p:nvSpPr>
        <p:spPr>
          <a:xfrm>
            <a:off x="8077200" y="2352039"/>
            <a:ext cx="34010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Rubik" pitchFamily="34" charset="0"/>
                <a:ea typeface="Rubik" pitchFamily="34" charset="-122"/>
                <a:cs typeface="Rubik" pitchFamily="34" charset="-120"/>
              </a:rPr>
              <a:t>Topeltkirjed</a:t>
            </a:r>
            <a:endParaRPr lang="en-US" sz="2000" dirty="0"/>
          </a:p>
        </p:txBody>
      </p:sp>
      <p:sp>
        <p:nvSpPr>
          <p:cNvPr id="12" name="Text 9"/>
          <p:cNvSpPr/>
          <p:nvPr/>
        </p:nvSpPr>
        <p:spPr>
          <a:xfrm>
            <a:off x="8077200" y="2783839"/>
            <a:ext cx="34010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Topeltklõps nupul „Salvesta“ loob mitu ühesugust kirjet.</a:t>
            </a:r>
            <a:endParaRPr lang="en-US" sz="1400" dirty="0"/>
          </a:p>
        </p:txBody>
      </p:sp>
      <p:sp>
        <p:nvSpPr>
          <p:cNvPr id="13" name="Shape 10"/>
          <p:cNvSpPr/>
          <p:nvPr/>
        </p:nvSpPr>
        <p:spPr>
          <a:xfrm>
            <a:off x="8077200" y="3408679"/>
            <a:ext cx="1651000" cy="2222500"/>
          </a:xfrm>
          <a:prstGeom prst="roundRect">
            <a:avLst>
              <a:gd name="adj" fmla="val 4615"/>
            </a:avLst>
          </a:prstGeom>
          <a:solidFill>
            <a:srgbClr val="FFFFFF"/>
          </a:solidFill>
          <a:ln/>
        </p:spPr>
      </p:sp>
      <p:pic>
        <p:nvPicPr>
          <p:cNvPr id="14" name="Image 1" descr="Mitu ühesugust kirjet f(x) = 0">    </p:cNvPr>
          <p:cNvPicPr>
            <a:picLocks noChangeAspect="1"/>
          </p:cNvPicPr>
          <p:nvPr/>
        </p:nvPicPr>
        <p:blipFill>
          <a:blip r:embed="rId2"/>
          <a:srcRect l="0" r="0" t="-114" b="-114"/>
          <a:stretch/>
        </p:blipFill>
        <p:spPr>
          <a:xfrm>
            <a:off x="8083550" y="3415029"/>
            <a:ext cx="1638300" cy="2209800"/>
          </a:xfrm>
          <a:prstGeom prst="roundRect">
            <a:avLst>
              <a:gd name="adj" fmla="val 4264"/>
            </a:avLst>
          </a:prstGeom>
        </p:spPr>
      </p:pic>
      <p:sp>
        <p:nvSpPr>
          <p:cNvPr id="15" name="Shape 11"/>
          <p:cNvSpPr/>
          <p:nvPr/>
        </p:nvSpPr>
        <p:spPr>
          <a:xfrm>
            <a:off x="8080375" y="3411854"/>
            <a:ext cx="1644650" cy="2216150"/>
          </a:xfrm>
          <a:prstGeom prst="roundRect">
            <a:avLst>
              <a:gd name="adj" fmla="val 4440"/>
            </a:avLst>
          </a:prstGeom>
          <a:noFill/>
          <a:ln w="6350">
            <a:solidFill>
              <a:srgbClr val="E2E4EA"/>
            </a:solidFill>
            <a:prstDash val="solid"/>
          </a:ln>
        </p:spPr>
      </p:sp>
      <p:sp>
        <p:nvSpPr>
          <p:cNvPr id="16" name="Text 12"/>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Rubik" pitchFamily="34" charset="0"/>
                <a:ea typeface="Rubik" pitchFamily="34" charset="-122"/>
                <a:cs typeface="Rubik" pitchFamily="34" charset="-120"/>
              </a:rPr>
              <a:t>LEITUD VEAD</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Ülejäänud vead</a:t>
            </a:r>
            <a:endParaRPr lang="en-US" sz="3200" dirty="0"/>
          </a:p>
        </p:txBody>
      </p:sp>
      <p:sp>
        <p:nvSpPr>
          <p:cNvPr id="4" name="Shape 2"/>
          <p:cNvSpPr/>
          <p:nvPr/>
        </p:nvSpPr>
        <p:spPr>
          <a:xfrm>
            <a:off x="812800" y="1823721"/>
            <a:ext cx="6604000" cy="324739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36421"/>
          <a:ext cx="6591300" cy="3234690"/>
        </p:xfrm>
        <a:graphic>
          <a:graphicData uri="http://schemas.openxmlformats.org/drawingml/2006/table">
            <a:tbl>
              <a:tblPr/>
              <a:tblGrid>
                <a:gridCol w="922782"/>
                <a:gridCol w="4218432"/>
                <a:gridCol w="1450086"/>
              </a:tblGrid>
              <a:tr h="359410">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ID</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Viga</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Rubik" pitchFamily="34" charset="0"/>
                          <a:ea typeface="Rubik" pitchFamily="34" charset="-122"/>
                          <a:cs typeface="Rubik" pitchFamily="34" charset="-120"/>
                        </a:rPr>
                        <a:t>Tõsidus</a:t>
                      </a:r>
                      <a:endParaRPr lang="en-US" sz="1300" dirty="0">
                        <a:latin typeface="Rubik" charset="0"/>
                        <a:ea typeface="Rubik" charset="0"/>
                        <a:cs typeface="Rubik"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V-01</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Ei käivitu SDK 10.0.100-ga</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Keskmine</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V-04</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Detailvaatest ei saa tagasi nimekirja</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V-05</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Arvud inglise vormingus: „4,000“</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V-06</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Kohustuslik väli tähistamata</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V-07</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Telefonis murdub „(-∞; 0)“ kahele reale</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V-08</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Serveri veal tehniline teade „502“</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V-09</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Vahemiku veal kaks teadet korraga</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410">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V-10</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Kirjaviga koodis: LuodudAeg</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Madal</a:t>
                      </a:r>
                      <a:endParaRPr lang="en-US" sz="1300" dirty="0">
                        <a:latin typeface="Rubik" charset="0"/>
                        <a:ea typeface="Rubik" charset="0"/>
                        <a:cs typeface="Rubik"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7721600" y="1823721"/>
            <a:ext cx="3657600" cy="2266950"/>
          </a:xfrm>
          <a:prstGeom prst="roundRect">
            <a:avLst>
              <a:gd name="adj" fmla="val 3361"/>
            </a:avLst>
          </a:prstGeom>
          <a:solidFill>
            <a:srgbClr val="FFFFFF"/>
          </a:solidFill>
          <a:ln/>
        </p:spPr>
      </p:sp>
      <p:pic>
        <p:nvPicPr>
          <p:cNvPr id="7" name="Image 0" descr="Funktsiooni x⁵ graafik, kus telje arvud on kujul 4,000">    </p:cNvPr>
          <p:cNvPicPr>
            <a:picLocks noChangeAspect="1"/>
          </p:cNvPicPr>
          <p:nvPr/>
        </p:nvPicPr>
        <p:blipFill>
          <a:blip r:embed="rId1"/>
          <a:srcRect l="-150" r="-150" t="0" b="0"/>
          <a:stretch/>
        </p:blipFill>
        <p:spPr>
          <a:xfrm>
            <a:off x="7727950" y="1830071"/>
            <a:ext cx="3644900" cy="2254250"/>
          </a:xfrm>
          <a:prstGeom prst="roundRect">
            <a:avLst>
              <a:gd name="adj" fmla="val 3099"/>
            </a:avLst>
          </a:prstGeom>
        </p:spPr>
      </p:pic>
      <p:sp>
        <p:nvSpPr>
          <p:cNvPr id="8" name="Shape 4"/>
          <p:cNvSpPr/>
          <p:nvPr/>
        </p:nvSpPr>
        <p:spPr>
          <a:xfrm>
            <a:off x="7724775" y="1826896"/>
            <a:ext cx="3651250" cy="2260600"/>
          </a:xfrm>
          <a:prstGeom prst="roundRect">
            <a:avLst>
              <a:gd name="adj" fmla="val 3230"/>
            </a:avLst>
          </a:prstGeom>
          <a:noFill/>
          <a:ln w="6350">
            <a:solidFill>
              <a:srgbClr val="E2E4EA"/>
            </a:solidFill>
            <a:prstDash val="solid"/>
          </a:ln>
        </p:spPr>
      </p:sp>
      <p:sp>
        <p:nvSpPr>
          <p:cNvPr id="9" name="Text 5"/>
          <p:cNvSpPr/>
          <p:nvPr/>
        </p:nvSpPr>
        <p:spPr>
          <a:xfrm>
            <a:off x="7721600" y="4192271"/>
            <a:ext cx="376732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Näide V-05: graafikul on „4,000“, eesti keeles peaks olema „4 000“.</a:t>
            </a:r>
            <a:endParaRPr lang="en-US" sz="1300" dirty="0"/>
          </a:p>
        </p:txBody>
      </p:sp>
      <p:sp>
        <p:nvSpPr>
          <p:cNvPr id="10" name="Text 6"/>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7A4A"/>
                </a:solidFill>
                <a:latin typeface="Rubik" pitchFamily="34" charset="0"/>
                <a:ea typeface="Rubik" pitchFamily="34" charset="-122"/>
                <a:cs typeface="Rubik" pitchFamily="34" charset="-120"/>
              </a:rPr>
              <a:t>MIS TÖÖTAS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Mis töötas hästi</a:t>
            </a:r>
            <a:endParaRPr lang="en-US" sz="3200" dirty="0"/>
          </a:p>
        </p:txBody>
      </p:sp>
      <p:sp>
        <p:nvSpPr>
          <p:cNvPr id="4" name="Text 2"/>
          <p:cNvSpPr/>
          <p:nvPr/>
        </p:nvSpPr>
        <p:spPr>
          <a:xfrm>
            <a:off x="812800" y="1874521"/>
            <a:ext cx="497078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Matemaatika – 4/4 õige</a:t>
            </a:r>
            <a:endParaRPr lang="en-US" sz="1800" dirty="0"/>
          </a:p>
        </p:txBody>
      </p:sp>
      <p:sp>
        <p:nvSpPr>
          <p:cNvPr id="5" name="Text 3"/>
          <p:cNvSpPr/>
          <p:nvPr/>
        </p:nvSpPr>
        <p:spPr>
          <a:xfrm>
            <a:off x="812800" y="2186942"/>
            <a:ext cx="49707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Arvutasin käsitsi x² − 4x + 3, x³ − 3x, x³ − 12x ja võrdlesin</a:t>
            </a:r>
            <a:endParaRPr lang="en-US" sz="1300" dirty="0"/>
          </a:p>
        </p:txBody>
      </p:sp>
      <p:sp>
        <p:nvSpPr>
          <p:cNvPr id="6" name="Text 4"/>
          <p:cNvSpPr/>
          <p:nvPr/>
        </p:nvSpPr>
        <p:spPr>
          <a:xfrm>
            <a:off x="812800" y="2595879"/>
            <a:ext cx="497078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Valideerimine</a:t>
            </a:r>
            <a:endParaRPr lang="en-US" sz="1800" dirty="0"/>
          </a:p>
        </p:txBody>
      </p:sp>
      <p:sp>
        <p:nvSpPr>
          <p:cNvPr id="7" name="Text 5"/>
          <p:cNvSpPr/>
          <p:nvPr/>
        </p:nvSpPr>
        <p:spPr>
          <a:xfrm>
            <a:off x="812800" y="2908300"/>
            <a:ext cx="49707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Tühi valem, 1000 märki, &lt;script&gt;, x^^2 – kõik lükati tagasi eestikeelse teatega</a:t>
            </a:r>
            <a:endParaRPr lang="en-US" sz="1300" dirty="0"/>
          </a:p>
        </p:txBody>
      </p:sp>
      <p:sp>
        <p:nvSpPr>
          <p:cNvPr id="8" name="Text 6"/>
          <p:cNvSpPr/>
          <p:nvPr/>
        </p:nvSpPr>
        <p:spPr>
          <a:xfrm>
            <a:off x="812800" y="3548379"/>
            <a:ext cx="497078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Graafik</a:t>
            </a:r>
            <a:endParaRPr lang="en-US" sz="1800" dirty="0"/>
          </a:p>
        </p:txBody>
      </p:sp>
      <p:sp>
        <p:nvSpPr>
          <p:cNvPr id="9" name="Text 7"/>
          <p:cNvSpPr/>
          <p:nvPr/>
        </p:nvSpPr>
        <p:spPr>
          <a:xfrm>
            <a:off x="812800" y="3860800"/>
            <a:ext cx="49707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Tuletis katkendjoonega, legend olemas, asümptoodid õigesti</a:t>
            </a:r>
            <a:endParaRPr lang="en-US" sz="1300" dirty="0"/>
          </a:p>
        </p:txBody>
      </p:sp>
      <p:sp>
        <p:nvSpPr>
          <p:cNvPr id="10" name="Text 8"/>
          <p:cNvSpPr/>
          <p:nvPr/>
        </p:nvSpPr>
        <p:spPr>
          <a:xfrm>
            <a:off x="812800" y="4269742"/>
            <a:ext cx="497078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Boonusülesanne</a:t>
            </a:r>
            <a:endParaRPr lang="en-US" sz="1800" dirty="0"/>
          </a:p>
        </p:txBody>
      </p:sp>
      <p:sp>
        <p:nvSpPr>
          <p:cNvPr id="11" name="Text 9"/>
          <p:cNvSpPr/>
          <p:nvPr/>
        </p:nvSpPr>
        <p:spPr>
          <a:xfrm>
            <a:off x="812800" y="4582158"/>
            <a:ext cx="49707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Suvalise valemi väärtused õiged, nulliga jagamine käsitletud</a:t>
            </a:r>
            <a:endParaRPr lang="en-US" sz="1300" dirty="0"/>
          </a:p>
        </p:txBody>
      </p:sp>
      <p:sp>
        <p:nvSpPr>
          <p:cNvPr id="12" name="Shape 10"/>
          <p:cNvSpPr/>
          <p:nvPr/>
        </p:nvSpPr>
        <p:spPr>
          <a:xfrm>
            <a:off x="5943600" y="1874521"/>
            <a:ext cx="5435600" cy="3282950"/>
          </a:xfrm>
          <a:prstGeom prst="roundRect">
            <a:avLst>
              <a:gd name="adj" fmla="val 2321"/>
            </a:avLst>
          </a:prstGeom>
          <a:solidFill>
            <a:srgbClr val="FFFFFF"/>
          </a:solidFill>
          <a:ln/>
        </p:spPr>
      </p:sp>
      <p:pic>
        <p:nvPicPr>
          <p:cNvPr id="13" name="Image 0" descr="Funktsiooni x³ − 3x graafik koos tuletisega katkendjoonena">    </p:cNvPr>
          <p:cNvPicPr>
            <a:picLocks noChangeAspect="1"/>
          </p:cNvPicPr>
          <p:nvPr/>
        </p:nvPicPr>
        <p:blipFill>
          <a:blip r:embed="rId1"/>
          <a:srcRect l="-49" r="-49" t="0" b="0"/>
          <a:stretch/>
        </p:blipFill>
        <p:spPr>
          <a:xfrm>
            <a:off x="5949950" y="1880871"/>
            <a:ext cx="5422900" cy="3270250"/>
          </a:xfrm>
          <a:prstGeom prst="roundRect">
            <a:avLst>
              <a:gd name="adj" fmla="val 2136"/>
            </a:avLst>
          </a:prstGeom>
        </p:spPr>
      </p:pic>
      <p:sp>
        <p:nvSpPr>
          <p:cNvPr id="14" name="Shape 11"/>
          <p:cNvSpPr/>
          <p:nvPr/>
        </p:nvSpPr>
        <p:spPr>
          <a:xfrm>
            <a:off x="5946775" y="1877696"/>
            <a:ext cx="5429250" cy="3276600"/>
          </a:xfrm>
          <a:prstGeom prst="roundRect">
            <a:avLst>
              <a:gd name="adj" fmla="val 2229"/>
            </a:avLst>
          </a:prstGeom>
          <a:noFill/>
          <a:ln w="6350">
            <a:solidFill>
              <a:srgbClr val="DCE1EC"/>
            </a:solidFill>
            <a:prstDash val="solid"/>
          </a:ln>
        </p:spPr>
      </p:sp>
      <p:sp>
        <p:nvSpPr>
          <p:cNvPr id="15" name="Text 12"/>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AUTOMAATTESTID</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Minu ühiktestid: 4/4 läbitud</a:t>
            </a:r>
            <a:endParaRPr lang="en-US" sz="3200" dirty="0"/>
          </a:p>
        </p:txBody>
      </p:sp>
      <p:sp>
        <p:nvSpPr>
          <p:cNvPr id="4" name="Shape 2"/>
          <p:cNvSpPr/>
          <p:nvPr/>
        </p:nvSpPr>
        <p:spPr>
          <a:xfrm>
            <a:off x="812800" y="1823721"/>
            <a:ext cx="6858000" cy="2580640"/>
          </a:xfrm>
          <a:prstGeom prst="roundRect">
            <a:avLst>
              <a:gd name="adj" fmla="val 3937"/>
            </a:avLst>
          </a:prstGeom>
          <a:solidFill>
            <a:srgbClr val="1E2A44"/>
          </a:solidFill>
          <a:ln/>
        </p:spPr>
      </p:sp>
      <p:sp>
        <p:nvSpPr>
          <p:cNvPr id="5" name="Text 3"/>
          <p:cNvSpPr/>
          <p:nvPr/>
        </p:nvSpPr>
        <p:spPr>
          <a:xfrm>
            <a:off x="1041400" y="2052321"/>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JetBrains Mono" pitchFamily="49" charset="0"/>
                <a:ea typeface="JetBrains Mono" pitchFamily="49" charset="-122"/>
                <a:cs typeface="JetBrains Mono" pitchFamily="49" charset="-120"/>
              </a:rPr>
              <a:t>[Theory]</a:t>
            </a:r>
            <a:endParaRPr lang="en-US" sz="1200" dirty="0"/>
          </a:p>
        </p:txBody>
      </p:sp>
      <p:sp>
        <p:nvSpPr>
          <p:cNvPr id="6" name="Text 4"/>
          <p:cNvSpPr/>
          <p:nvPr/>
        </p:nvSpPr>
        <p:spPr>
          <a:xfrm>
            <a:off x="1041400" y="2291079"/>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[InlineData("x^2 - 4*x + 3", "2*x - 4", "min f(2) = -1")]</a:t>
            </a:r>
            <a:endParaRPr lang="en-US" sz="1200" dirty="0"/>
          </a:p>
        </p:txBody>
      </p:sp>
      <p:sp>
        <p:nvSpPr>
          <p:cNvPr id="7" name="Text 5"/>
          <p:cNvSpPr/>
          <p:nvPr/>
        </p:nvSpPr>
        <p:spPr>
          <a:xfrm>
            <a:off x="1041400" y="2529842"/>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[InlineData("x^3 - 12*x", "3*x^2 - 12", ...)]</a:t>
            </a:r>
            <a:endParaRPr lang="en-US" sz="1200" dirty="0"/>
          </a:p>
        </p:txBody>
      </p:sp>
      <p:sp>
        <p:nvSpPr>
          <p:cNvPr id="8" name="Text 6"/>
          <p:cNvSpPr/>
          <p:nvPr/>
        </p:nvSpPr>
        <p:spPr>
          <a:xfrm>
            <a:off x="1041400" y="2768600"/>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5"/>
                </a:solidFill>
                <a:latin typeface="JetBrains Mono" pitchFamily="49" charset="0"/>
                <a:ea typeface="JetBrains Mono" pitchFamily="49" charset="-122"/>
                <a:cs typeface="JetBrains Mono" pitchFamily="49" charset="-120"/>
              </a:rPr>
              <a:t>public void Kontrollfunktsioon(...)</a:t>
            </a:r>
            <a:endParaRPr lang="en-US" sz="1200" dirty="0"/>
          </a:p>
        </p:txBody>
      </p:sp>
      <p:sp>
        <p:nvSpPr>
          <p:cNvPr id="9" name="Text 7"/>
          <p:cNvSpPr/>
          <p:nvPr/>
        </p:nvSpPr>
        <p:spPr>
          <a:xfrm>
            <a:off x="1041400" y="3007358"/>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1041400" y="3246121"/>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var t = analuusija.Analuusi(valem, -5, 5);</a:t>
            </a:r>
            <a:endParaRPr lang="en-US" sz="1200" dirty="0"/>
          </a:p>
        </p:txBody>
      </p:sp>
      <p:sp>
        <p:nvSpPr>
          <p:cNvPr id="11" name="Text 9"/>
          <p:cNvSpPr/>
          <p:nvPr/>
        </p:nvSpPr>
        <p:spPr>
          <a:xfrm>
            <a:off x="1041400" y="3484879"/>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Assert.Equal(tuletis, t.Tuletis);</a:t>
            </a:r>
            <a:endParaRPr lang="en-US" sz="1200" dirty="0"/>
          </a:p>
        </p:txBody>
      </p:sp>
      <p:sp>
        <p:nvSpPr>
          <p:cNvPr id="12" name="Text 10"/>
          <p:cNvSpPr/>
          <p:nvPr/>
        </p:nvSpPr>
        <p:spPr>
          <a:xfrm>
            <a:off x="1041400" y="3723642"/>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Assert.Equal(ekstr, t.Ekstreemumid);</a:t>
            </a:r>
            <a:endParaRPr lang="en-US" sz="1200" dirty="0"/>
          </a:p>
        </p:txBody>
      </p:sp>
      <p:sp>
        <p:nvSpPr>
          <p:cNvPr id="13" name="Text 11"/>
          <p:cNvSpPr/>
          <p:nvPr/>
        </p:nvSpPr>
        <p:spPr>
          <a:xfrm>
            <a:off x="1041400" y="3962400"/>
            <a:ext cx="6592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2"/>
                </a:solidFill>
                <a:latin typeface="JetBrains Mono" pitchFamily="49" charset="0"/>
                <a:ea typeface="JetBrains Mono" pitchFamily="49" charset="-122"/>
                <a:cs typeface="JetBrains Mono" pitchFamily="49" charset="-120"/>
              </a:rPr>
              <a:t>}</a:t>
            </a:r>
            <a:endParaRPr lang="en-US" sz="1200" dirty="0"/>
          </a:p>
        </p:txBody>
      </p:sp>
      <p:sp>
        <p:nvSpPr>
          <p:cNvPr id="14" name="Text 12"/>
          <p:cNvSpPr/>
          <p:nvPr/>
        </p:nvSpPr>
        <p:spPr>
          <a:xfrm>
            <a:off x="7975600" y="1823721"/>
            <a:ext cx="35057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Mida testid kontrollivad</a:t>
            </a:r>
            <a:endParaRPr lang="en-US" sz="1800" dirty="0"/>
          </a:p>
        </p:txBody>
      </p:sp>
      <p:sp>
        <p:nvSpPr>
          <p:cNvPr id="15" name="Text 13"/>
          <p:cNvSpPr/>
          <p:nvPr/>
        </p:nvSpPr>
        <p:spPr>
          <a:xfrm>
            <a:off x="7975600" y="2225042"/>
            <a:ext cx="35057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1. Juhendi kolme funktsiooni tuletis ja ekstreemumid</a:t>
            </a:r>
            <a:endParaRPr lang="en-US" sz="1400" dirty="0"/>
          </a:p>
        </p:txBody>
      </p:sp>
      <p:sp>
        <p:nvSpPr>
          <p:cNvPr id="16" name="Text 14"/>
          <p:cNvSpPr/>
          <p:nvPr/>
        </p:nvSpPr>
        <p:spPr>
          <a:xfrm>
            <a:off x="7975600" y="2849879"/>
            <a:ext cx="35057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2. (x² − 4)/(x² − 1): määramispiirkond, nullkohad, miinimum</a:t>
            </a:r>
            <a:endParaRPr lang="en-US" sz="1400" dirty="0"/>
          </a:p>
        </p:txBody>
      </p:sp>
      <p:sp>
        <p:nvSpPr>
          <p:cNvPr id="17" name="Shape 15"/>
          <p:cNvSpPr/>
          <p:nvPr/>
        </p:nvSpPr>
        <p:spPr>
          <a:xfrm>
            <a:off x="812800" y="4658358"/>
            <a:ext cx="10566400" cy="1035050"/>
          </a:xfrm>
          <a:prstGeom prst="roundRect">
            <a:avLst>
              <a:gd name="adj" fmla="val 7362"/>
            </a:avLst>
          </a:prstGeom>
          <a:solidFill>
            <a:srgbClr val="0C0C0C"/>
          </a:solidFill>
          <a:ln/>
        </p:spPr>
      </p:sp>
      <p:pic>
        <p:nvPicPr>
          <p:cNvPr id="18" name="Image 0" descr="Testide tulemus: Total 4, Failed 0">    </p:cNvPr>
          <p:cNvPicPr>
            <a:picLocks noChangeAspect="1"/>
          </p:cNvPicPr>
          <p:nvPr/>
        </p:nvPicPr>
        <p:blipFill>
          <a:blip r:embed="rId1"/>
          <a:srcRect l="-147" r="-147" t="0" b="0"/>
          <a:stretch/>
        </p:blipFill>
        <p:spPr>
          <a:xfrm>
            <a:off x="812800" y="4658358"/>
            <a:ext cx="10566400" cy="1035050"/>
          </a:xfrm>
          <a:prstGeom prst="roundRect">
            <a:avLst>
              <a:gd name="adj" fmla="val 7362"/>
            </a:avLst>
          </a:prstGeom>
        </p:spPr>
      </p:pic>
      <p:sp>
        <p:nvSpPr>
          <p:cNvPr id="19" name="Text 16"/>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5BDB"/>
                </a:solidFill>
                <a:latin typeface="Rubik" pitchFamily="34" charset="0"/>
                <a:ea typeface="Rubik" pitchFamily="34" charset="-122"/>
                <a:cs typeface="Rubik" pitchFamily="34" charset="-120"/>
              </a:rPr>
              <a:t>HINNANG</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Rubik" pitchFamily="34" charset="0"/>
                <a:ea typeface="Rubik" pitchFamily="34" charset="-122"/>
                <a:cs typeface="Rubik" pitchFamily="34" charset="-120"/>
              </a:rPr>
              <a:t>Testitava töö hinnang</a:t>
            </a:r>
            <a:endParaRPr lang="en-US" sz="3200" dirty="0"/>
          </a:p>
        </p:txBody>
      </p:sp>
      <p:sp>
        <p:nvSpPr>
          <p:cNvPr id="4" name="Shape 2"/>
          <p:cNvSpPr/>
          <p:nvPr/>
        </p:nvSpPr>
        <p:spPr>
          <a:xfrm>
            <a:off x="812800" y="1874521"/>
            <a:ext cx="6985000" cy="257810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87221"/>
          <a:ext cx="6972300" cy="2565400"/>
        </p:xfrm>
        <a:graphic>
          <a:graphicData uri="http://schemas.openxmlformats.org/drawingml/2006/table">
            <a:tbl>
              <a:tblPr/>
              <a:tblGrid>
                <a:gridCol w="3067812"/>
                <a:gridCol w="1255014"/>
                <a:gridCol w="2649474"/>
              </a:tblGrid>
              <a:tr h="386080">
                <a:tc>
                  <a:txBody>
                    <a:bodyPr/>
                    <a:lstStyle/>
                    <a:p>
                      <a:pPr indent="0" marL="0">
                        <a:lnSpc>
                          <a:spcPts val="1960"/>
                        </a:lnSpc>
                        <a:buNone/>
                      </a:pPr>
                      <a:r>
                        <a:rPr lang="en-US" sz="1400" b="1" dirty="0">
                          <a:solidFill>
                            <a:srgbClr val="14213D"/>
                          </a:solidFill>
                          <a:latin typeface="Rubik" pitchFamily="34" charset="0"/>
                          <a:ea typeface="Rubik" pitchFamily="34" charset="-122"/>
                          <a:cs typeface="Rubik" pitchFamily="34" charset="-120"/>
                        </a:rPr>
                        <a:t>Kriteerium</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Rubik" pitchFamily="34" charset="0"/>
                          <a:ea typeface="Rubik" pitchFamily="34" charset="-122"/>
                          <a:cs typeface="Rubik" pitchFamily="34" charset="-120"/>
                        </a:rPr>
                        <a:t>Punktid</a:t>
                      </a:r>
                      <a:endParaRPr lang="en-US" sz="1400" dirty="0">
                        <a:latin typeface="Rubik" charset="0"/>
                        <a:ea typeface="Rubik" charset="0"/>
                        <a:cs typeface="Rubik"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Rubik" pitchFamily="34" charset="0"/>
                          <a:ea typeface="Rubik" pitchFamily="34" charset="-122"/>
                          <a:cs typeface="Rubik" pitchFamily="34" charset="-120"/>
                        </a:rPr>
                        <a:t>Miks</a:t>
                      </a:r>
                      <a:endParaRPr lang="en-US" sz="1400" dirty="0">
                        <a:latin typeface="Rubik" charset="0"/>
                        <a:ea typeface="Rubik" charset="0"/>
                        <a:cs typeface="Rubik"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3500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EF Core ja andmebaas</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25 / 30</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Muutmine puudub, topeltkirjed</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Backend ja valideerimine</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24 / 25</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Kaks teadet korraga</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Graafik ja kasutajaliides</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26 / 30</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Väiksemad puudused</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Matemaatiline täpsus</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15 / 15</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Kõik õige</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80">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Boonusülesanne</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+15</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Töötab</a:t>
                      </a:r>
                      <a:endParaRPr lang="en-US" sz="1400" dirty="0">
                        <a:latin typeface="Rubik" charset="0"/>
                        <a:ea typeface="Rubik" charset="0"/>
                        <a:cs typeface="Rubik"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885692" y="2185671"/>
            <a:ext cx="1811909"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4213D"/>
                </a:solidFill>
                <a:latin typeface="Rubik" pitchFamily="34" charset="0"/>
                <a:ea typeface="Rubik" pitchFamily="34" charset="-122"/>
                <a:cs typeface="Rubik" pitchFamily="34" charset="-120"/>
              </a:rPr>
              <a:t>90</a:t>
            </a:r>
            <a:endParaRPr lang="en-US" sz="9000" dirty="0"/>
          </a:p>
        </p:txBody>
      </p:sp>
      <p:sp>
        <p:nvSpPr>
          <p:cNvPr id="7" name="Text 4"/>
          <p:cNvSpPr/>
          <p:nvPr/>
        </p:nvSpPr>
        <p:spPr>
          <a:xfrm>
            <a:off x="8893566" y="3379471"/>
            <a:ext cx="1796161" cy="34544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14213D"/>
                </a:solidFill>
                <a:latin typeface="Rubik" pitchFamily="34" charset="0"/>
                <a:ea typeface="Rubik" pitchFamily="34" charset="-122"/>
                <a:cs typeface="Rubik" pitchFamily="34" charset="-120"/>
              </a:rPr>
              <a:t>punkti 100-st</a:t>
            </a:r>
            <a:endParaRPr lang="en-US" sz="1800" dirty="0"/>
          </a:p>
        </p:txBody>
      </p:sp>
      <p:sp>
        <p:nvSpPr>
          <p:cNvPr id="8" name="Text 5"/>
          <p:cNvSpPr/>
          <p:nvPr/>
        </p:nvSpPr>
        <p:spPr>
          <a:xfrm>
            <a:off x="8848100" y="3750308"/>
            <a:ext cx="1887093"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2F7A4A"/>
                </a:solidFill>
                <a:latin typeface="Rubik" pitchFamily="34" charset="0"/>
                <a:ea typeface="Rubik" pitchFamily="34" charset="-122"/>
                <a:cs typeface="Rubik" pitchFamily="34" charset="-120"/>
              </a:rPr>
              <a:t>+15 boonus</a:t>
            </a:r>
            <a:endParaRPr lang="en-US" sz="2200" dirty="0"/>
          </a:p>
        </p:txBody>
      </p:sp>
      <p:sp>
        <p:nvSpPr>
          <p:cNvPr id="9" name="Text 6"/>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B"/>
                </a:solidFill>
                <a:latin typeface="Rubik" pitchFamily="34" charset="0"/>
                <a:ea typeface="Rubik" pitchFamily="34" charset="-122"/>
                <a:cs typeface="Rubik"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2543638" y="2697479"/>
            <a:ext cx="7104618" cy="1488440"/>
          </a:xfrm>
          <a:prstGeom prst="rect">
            <a:avLst/>
          </a:prstGeom>
          <a:noFill/>
          <a:ln/>
        </p:spPr>
        <p:txBody>
          <a:bodyPr wrap="square" lIns="0" tIns="0" rIns="0" bIns="0" rtlCol="0" anchor="t">
            <a:normAutofit/>
          </a:bodyPr>
          <a:lstStyle/>
          <a:p>
            <a:pPr algn="ctr" indent="0" marL="0">
              <a:lnSpc>
                <a:spcPts val="5760"/>
              </a:lnSpc>
              <a:buNone/>
            </a:pPr>
            <a:r>
              <a:rPr lang="en-US" sz="4800" b="1" dirty="0">
                <a:solidFill>
                  <a:srgbClr val="F6F5F1"/>
                </a:solidFill>
                <a:latin typeface="Rubik" pitchFamily="34" charset="0"/>
                <a:ea typeface="Rubik" pitchFamily="34" charset="-122"/>
                <a:cs typeface="Rubik" pitchFamily="34" charset="-120"/>
              </a:rPr>
              <a:t>See on kõik!</a:t>
            </a:r>
            <a:endParaRPr lang="en-US" sz="4800" dirty="0"/>
          </a:p>
          <a:p>
            <a:pPr algn="ctr" indent="0" marL="0">
              <a:lnSpc>
                <a:spcPts val="5760"/>
              </a:lnSpc>
              <a:buNone/>
            </a:pPr>
            <a:r>
              <a:rPr lang="en-US" sz="4800" b="1" dirty="0">
                <a:solidFill>
                  <a:srgbClr val="F6F5F1"/>
                </a:solidFill>
                <a:latin typeface="Rubik" pitchFamily="34" charset="0"/>
                <a:ea typeface="Rubik" pitchFamily="34" charset="-122"/>
                <a:cs typeface="Rubik" pitchFamily="34" charset="-120"/>
              </a:rPr>
              <a:t>Aitäh tähelepanu eest!</a:t>
            </a:r>
            <a:endParaRPr lang="en-US" sz="4800" dirty="0"/>
          </a:p>
        </p:txBody>
      </p:sp>
    </p:spTree>
  </p:cSld>
  <p:clrMapOvr>
    <a:masterClrMapping/>
  </p:clrMapOvr>
</p:sld>
</file>

<file path=ppt/theme/theme1.xml><?xml version="1.0" encoding="utf-8"?>
<a:theme xmlns:a="http://schemas.openxmlformats.org/drawingml/2006/main" name="Funktsioonide uurimise rakenduse testimine">
  <a:themeElements>
    <a:clrScheme name="Funktsioonide uurimise rakenduse testimine">
      <a:dk1>
        <a:srgbClr val="14213D"/>
      </a:dk1>
      <a:lt1>
        <a:srgbClr val="F6F5F1"/>
      </a:lt1>
      <a:dk2>
        <a:srgbClr val="4D566A"/>
      </a:dk2>
      <a:lt2>
        <a:srgbClr val="DFE0DF"/>
      </a:lt2>
      <a:accent1>
        <a:srgbClr val="8FA8F5"/>
      </a:accent1>
      <a:accent2>
        <a:srgbClr val="3B5BDB"/>
      </a:accent2>
      <a:accent3>
        <a:srgbClr val="8A2416"/>
      </a:accent3>
      <a:accent4>
        <a:srgbClr val="C2410C"/>
      </a:accent4>
      <a:accent5>
        <a:srgbClr val="2F7A4A"/>
      </a:accent5>
      <a:accent6>
        <a:srgbClr val="FBE8C8"/>
      </a:accent6>
      <a:hlink>
        <a:srgbClr val="0563C1"/>
      </a:hlink>
      <a:folHlink>
        <a:srgbClr val="954F72"/>
      </a:folHlink>
    </a:clrScheme>
    <a:fontScheme name="Funktsioonide uurimise rakenduse testimin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Funktsioonide uurimise rakenduse testimine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2026-10-26T13:39:09Z</dcterms:created>
  <dcterms:modified xsi:type="dcterms:W3CDTF">2026-10-26T13:39:09Z</dcterms:modified>
</cp:coreProperties>
</file>